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7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5143500" cx="9144000"/>
  <p:notesSz cx="6858000" cy="9144000"/>
  <p:embeddedFontLst>
    <p:embeddedFont>
      <p:font typeface="Young Serif"/>
      <p:regular r:id="rId34"/>
    </p:embeddedFont>
    <p:embeddedFont>
      <p:font typeface="Rubik"/>
      <p:regular r:id="rId35"/>
      <p:bold r:id="rId36"/>
      <p:italic r:id="rId37"/>
      <p:boldItalic r:id="rId38"/>
    </p:embeddedFont>
    <p:embeddedFont>
      <p:font typeface="Rubik SemiBold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3" roundtripDataSignature="AMtx7mihkgKUz4VF9JWZx+/D4+YfXPP3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723809-2EA0-48ED-A981-5019EE871195}">
  <a:tblStyle styleId="{E8723809-2EA0-48ED-A981-5019EE87119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ubikSemiBold-bold.fntdata"/><Relationship Id="rId20" Type="http://schemas.openxmlformats.org/officeDocument/2006/relationships/slide" Target="slides/slide13.xml"/><Relationship Id="rId42" Type="http://schemas.openxmlformats.org/officeDocument/2006/relationships/font" Target="fonts/RubikSemiBold-boldItalic.fntdata"/><Relationship Id="rId41" Type="http://schemas.openxmlformats.org/officeDocument/2006/relationships/font" Target="fonts/RubikSemiBold-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43" Type="http://customschemas.google.com/relationships/presentationmetadata" Target="meta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Rubik-regular.fntdata"/><Relationship Id="rId12" Type="http://schemas.openxmlformats.org/officeDocument/2006/relationships/slide" Target="slides/slide5.xml"/><Relationship Id="rId34" Type="http://schemas.openxmlformats.org/officeDocument/2006/relationships/font" Target="fonts/YoungSerif-regular.fntdata"/><Relationship Id="rId15" Type="http://schemas.openxmlformats.org/officeDocument/2006/relationships/slide" Target="slides/slide8.xml"/><Relationship Id="rId37" Type="http://schemas.openxmlformats.org/officeDocument/2006/relationships/font" Target="fonts/Rubik-italic.fntdata"/><Relationship Id="rId14" Type="http://schemas.openxmlformats.org/officeDocument/2006/relationships/slide" Target="slides/slide7.xml"/><Relationship Id="rId36" Type="http://schemas.openxmlformats.org/officeDocument/2006/relationships/font" Target="fonts/Rubik-bold.fntdata"/><Relationship Id="rId17" Type="http://schemas.openxmlformats.org/officeDocument/2006/relationships/slide" Target="slides/slide10.xml"/><Relationship Id="rId39" Type="http://schemas.openxmlformats.org/officeDocument/2006/relationships/font" Target="fonts/RubikSemiBold-regular.fntdata"/><Relationship Id="rId16" Type="http://schemas.openxmlformats.org/officeDocument/2006/relationships/slide" Target="slides/slide9.xml"/><Relationship Id="rId38" Type="http://schemas.openxmlformats.org/officeDocument/2006/relationships/font" Target="fonts/Rubik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Adjust the parameters of the model until the sheep population is as close to 120 as possible at 100 timesteps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Stochasticity → Multifinality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More parameters + emergent dynamics → Equifinality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Individual-level model + population-level observations → can contribute to Identifiability problems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What is the difference between equifinality and identifiability?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Do you have any observations regarding the four sheep population trajectories?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Wolf reproduction=5 and wolf energy gain=15; what would you do?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Based of the sensitivity indices, which parameters might we prioritise for calibration?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Add dummy parameter to NetLogo without changing model? If I vary the dummy parameter, would I expect that to contribute to the variation in the outputs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Process of selecting parameter is semi-automated by an optimisation algorithm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Optimisation problems have objectives that we want to achieve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Our objective is to minimise the error between observed and simulated data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fb1bdadd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fb1bdadd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Even though there are some benefits to using Bayesian calibration over optimisation, these are all theoretical concepts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From a more applied modelling standpoint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Bayesian methods may run 1 or 2 orders of magnitude more simulations during the calibration process. There are also typically more hyperparameters, and more components.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So when I began working with systems modelling a few years ago, a good piece of advice a supervisor was that a simpler model can often outperform a complicated model - there are fewer assumptions, fewer components, fewer things that go wrong. That also applies to the algorithm you use to perform you use to perform calibration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7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5600" u="none" cap="none" strike="noStrike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2" name="Google Shape;12;p27"/>
          <p:cNvSpPr txBox="1"/>
          <p:nvPr>
            <p:ph type="title"/>
          </p:nvPr>
        </p:nvSpPr>
        <p:spPr>
          <a:xfrm>
            <a:off x="1248900" y="1632850"/>
            <a:ext cx="6646200" cy="15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" type="subTitle"/>
          </p:nvPr>
        </p:nvSpPr>
        <p:spPr>
          <a:xfrm>
            <a:off x="2369850" y="3221650"/>
            <a:ext cx="4404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one column and image">
  <p:cSld name="CUSTOM_1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8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" name="Google Shape;16;p28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" name="Google Shape;17;p28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" name="Google Shape;18;p28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" name="Google Shape;19;p28"/>
          <p:cNvSpPr/>
          <p:nvPr>
            <p:ph idx="2" type="pic"/>
          </p:nvPr>
        </p:nvSpPr>
        <p:spPr>
          <a:xfrm>
            <a:off x="4685900" y="1762300"/>
            <a:ext cx="4229400" cy="3152400"/>
          </a:xfrm>
          <a:prstGeom prst="rect">
            <a:avLst/>
          </a:prstGeom>
          <a:noFill/>
          <a:ln>
            <a:noFill/>
          </a:ln>
        </p:spPr>
      </p:sp>
      <p:sp>
        <p:nvSpPr>
          <p:cNvPr id="20" name="Google Shape;20;p28"/>
          <p:cNvSpPr/>
          <p:nvPr/>
        </p:nvSpPr>
        <p:spPr>
          <a:xfrm>
            <a:off x="228450" y="1762300"/>
            <a:ext cx="42294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1" name="Google Shape;21;p28"/>
          <p:cNvSpPr txBox="1"/>
          <p:nvPr>
            <p:ph idx="3" type="body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" name="Google Shape;22;p28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>
  <p:cSld name="CUSTOM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5" name="Google Shape;25;p29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" name="Google Shape;26;p29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7" name="Google Shape;27;p29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" name="Google Shape;28;p29"/>
          <p:cNvSpPr/>
          <p:nvPr/>
        </p:nvSpPr>
        <p:spPr>
          <a:xfrm>
            <a:off x="228450" y="1762300"/>
            <a:ext cx="86868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9" name="Google Shape;29;p29"/>
          <p:cNvSpPr txBox="1"/>
          <p:nvPr>
            <p:ph idx="2" type="body"/>
          </p:nvPr>
        </p:nvSpPr>
        <p:spPr>
          <a:xfrm>
            <a:off x="456400" y="1983350"/>
            <a:ext cx="81138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0" name="Google Shape;30;p29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two columns" type="twoColTx">
  <p:cSld name="TITLE_AND_TWO_COLUMNS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0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30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4" name="Google Shape;34;p30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5" name="Google Shape;35;p30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36" name="Google Shape;36;p30"/>
          <p:cNvSpPr/>
          <p:nvPr/>
        </p:nvSpPr>
        <p:spPr>
          <a:xfrm>
            <a:off x="227150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37" name="Google Shape;37;p30"/>
          <p:cNvSpPr txBox="1"/>
          <p:nvPr>
            <p:ph idx="1" type="body"/>
          </p:nvPr>
        </p:nvSpPr>
        <p:spPr>
          <a:xfrm>
            <a:off x="688450" y="2146900"/>
            <a:ext cx="3309900" cy="23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8" name="Google Shape;38;p30"/>
          <p:cNvSpPr/>
          <p:nvPr/>
        </p:nvSpPr>
        <p:spPr>
          <a:xfrm>
            <a:off x="4685575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39" name="Google Shape;39;p30"/>
          <p:cNvSpPr txBox="1"/>
          <p:nvPr>
            <p:ph idx="2" type="body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0" name="Google Shape;40;p30"/>
          <p:cNvSpPr txBox="1"/>
          <p:nvPr>
            <p:ph idx="3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6" name="Google Shape;4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" name="Google Shape;50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" name="Google Shape;5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" name="Google Shape;5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3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" name="Google Shape;5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6" name="Google Shape;66;p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4325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68" name="Google Shape;6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/>
            </a:lvl1pPr>
            <a:lvl2pPr indent="-314325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74" name="Google Shape;74;p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75" name="Google Shape;7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4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4" name="Google Shape;84;p4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87" name="Google Shape;87;p4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8" name="Google Shape;88;p4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3" name="Google Shape;93;p4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94" name="Google Shape;94;p4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95" name="Google Shape;95;p4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6" name="Google Shape;96;p4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4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00" name="Google Shape;100;p4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01" name="Google Shape;101;p43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02" name="Google Shape;102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3" name="Google Shape;103;p43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4" name="Google Shape;104;p43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5" name="Google Shape;105;p43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4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09" name="Google Shape;109;p4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10" name="Google Shape;110;p4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11" name="Google Shape;111;p4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12" name="Google Shape;112;p4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3" name="Google Shape;113;p4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4" name="Google Shape;114;p4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5" name="Google Shape;115;p4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6" name="Google Shape;116;p4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9" name="Google Shape;119;p4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4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4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2" name="Google Shape;12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24" name="Google Shape;124;p4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5" name="Google Shape;125;p4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8" name="Google Shape;128;p4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4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4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" name="Google Shape;131;p4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4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3" name="Google Shape;13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5" name="Google Shape;135;p4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6" name="Google Shape;136;p4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7" name="Google Shape;137;p4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4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4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4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4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4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4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4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50" name="Google Shape;150;p4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4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4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 type="tx">
  <p:cSld name="TITLE_AND_BODY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9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49"/>
          <p:cNvSpPr/>
          <p:nvPr>
            <p:ph idx="2" type="pic"/>
          </p:nvPr>
        </p:nvSpPr>
        <p:spPr>
          <a:xfrm>
            <a:off x="228600" y="1322475"/>
            <a:ext cx="8686800" cy="359250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49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7" name="Google Shape;157;p49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1">
  <p:cSld name="CUSTOM_2"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0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0" name="Google Shape;160;p50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50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2" name="Google Shape;162;p50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7145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3" name="Google Shape;163;p50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50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5" name="Google Shape;165;p50"/>
          <p:cNvSpPr txBox="1"/>
          <p:nvPr>
            <p:ph idx="3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6" name="Google Shape;166;p50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7" name="Google Shape;167;p50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8" name="Google Shape;168;p50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2">
  <p:cSld name="CUSTOM_2_1"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1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1" name="Google Shape;171;p51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2" name="Google Shape;172;p51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51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4" name="Google Shape;174;p51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5" name="Google Shape;175;p51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6" name="Google Shape;176;p51"/>
          <p:cNvSpPr txBox="1"/>
          <p:nvPr>
            <p:ph idx="1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7145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7" name="Google Shape;177;p51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8" name="Google Shape;178;p51"/>
          <p:cNvSpPr txBox="1"/>
          <p:nvPr>
            <p:ph idx="3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9" name="Google Shape;179;p51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3">
  <p:cSld name="CUSTOM_2_1_1"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2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2" name="Google Shape;182;p52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3" name="Google Shape;183;p52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52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5" name="Google Shape;185;p52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6" name="Google Shape;186;p52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7" name="Google Shape;187;p52"/>
          <p:cNvSpPr txBox="1"/>
          <p:nvPr>
            <p:ph idx="1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7145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8" name="Google Shape;188;p52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9" name="Google Shape;189;p52"/>
          <p:cNvSpPr txBox="1"/>
          <p:nvPr>
            <p:ph idx="3" type="body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0" name="Google Shape;190;p52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4">
  <p:cSld name="CUSTOM_2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3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3" name="Google Shape;193;p53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4" name="Google Shape;194;p53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53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53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97" name="Google Shape;197;p53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7145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8" name="Google Shape;198;p53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9" name="Google Shape;199;p53"/>
          <p:cNvSpPr txBox="1"/>
          <p:nvPr>
            <p:ph idx="3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0" name="Google Shape;200;p53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01" name="Google Shape;201;p53"/>
          <p:cNvSpPr txBox="1"/>
          <p:nvPr>
            <p:ph idx="4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7145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2" name="Google Shape;202;p53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3" name="Google Shape;203;p53"/>
          <p:cNvSpPr txBox="1"/>
          <p:nvPr>
            <p:ph idx="5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4" name="Google Shape;204;p53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05" name="Google Shape;205;p53"/>
          <p:cNvSpPr txBox="1"/>
          <p:nvPr>
            <p:ph idx="6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7145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6" name="Google Shape;206;p53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7" name="Google Shape;207;p53"/>
          <p:cNvSpPr txBox="1"/>
          <p:nvPr>
            <p:ph idx="7" type="body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CUSTOM_3">
    <p:bg>
      <p:bgPr>
        <a:solidFill>
          <a:schemeClr val="dk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4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5600" u="none" cap="none" strike="noStrike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0" name="Google Shape;210;p54"/>
          <p:cNvSpPr txBox="1"/>
          <p:nvPr>
            <p:ph type="title"/>
          </p:nvPr>
        </p:nvSpPr>
        <p:spPr>
          <a:xfrm>
            <a:off x="1248900" y="1777350"/>
            <a:ext cx="6646200" cy="15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1" name="Google Shape;211;p54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4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9" name="Google Shape;219;p5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0" name="Google Shape;220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3" name="Google Shape;223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6" name="Google Shape;226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7" name="Google Shape;227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0" name="Google Shape;230;p6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1" name="Google Shape;231;p6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2" name="Google Shape;232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5" name="Google Shape;235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8" name="Google Shape;238;p6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9" name="Google Shape;23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6" name="Google Shape;246;p6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7" name="Google Shape;247;p6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8" name="Google Shape;248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51" name="Google Shape;251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4" name="Google Shape;254;p6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b="0" i="0" sz="4000" u="none" cap="none" strike="noStrike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b="0" i="0" sz="4000" u="none" cap="none" strike="noStrike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b="0" i="0" sz="4000" u="none" cap="none" strike="noStrike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b="0" i="0" sz="4000" u="none" cap="none" strike="noStrike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b="0" i="0" sz="4000" u="none" cap="none" strike="noStrike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b="0" i="0" sz="4000" u="none" cap="none" strike="noStrike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b="0" i="0" sz="4000" u="none" cap="none" strike="noStrike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b="0" i="0" sz="4000" u="none" cap="none" strike="noStrike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b="0" i="0" sz="4000" u="none" cap="none" strike="noStrike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311700" y="18144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b="0" i="0" sz="135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1432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b="0" i="0" sz="135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14325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b="0" i="0" sz="135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14325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b="0" i="0" sz="135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14325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b="0" i="0" sz="135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14325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b="0" i="0" sz="135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14325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b="0" i="0" sz="135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14325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b="0" i="0" sz="135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14325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b="0" i="0" sz="135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5" name="Google Shape;215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6" name="Google Shape;216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"/>
          <p:cNvSpPr txBox="1"/>
          <p:nvPr>
            <p:ph type="title"/>
          </p:nvPr>
        </p:nvSpPr>
        <p:spPr>
          <a:xfrm>
            <a:off x="1248900" y="452253"/>
            <a:ext cx="66462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rPr lang="en" sz="5000"/>
              <a:t>An Introduction to the Calibration of Agent-Based Models</a:t>
            </a:r>
            <a:endParaRPr sz="5000"/>
          </a:p>
        </p:txBody>
      </p:sp>
      <p:sp>
        <p:nvSpPr>
          <p:cNvPr id="263" name="Google Shape;263;p1"/>
          <p:cNvSpPr txBox="1"/>
          <p:nvPr>
            <p:ph idx="1" type="subTitle"/>
          </p:nvPr>
        </p:nvSpPr>
        <p:spPr>
          <a:xfrm>
            <a:off x="1919850" y="2832170"/>
            <a:ext cx="5304300" cy="10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James Bristow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TPM Agent Based Modelling Wānanga </a:t>
            </a:r>
            <a:endParaRPr/>
          </a:p>
        </p:txBody>
      </p:sp>
      <p:pic>
        <p:nvPicPr>
          <p:cNvPr id="264" name="Google Shape;26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296" y="3772021"/>
            <a:ext cx="3469716" cy="1031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Predator-Prey Modelling</a:t>
            </a:r>
            <a:endParaRPr/>
          </a:p>
        </p:txBody>
      </p:sp>
      <p:sp>
        <p:nvSpPr>
          <p:cNvPr id="270" name="Google Shape;270;p2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Why Model Predator–Prey Systems?</a:t>
            </a:r>
            <a:endParaRPr/>
          </a:p>
        </p:txBody>
      </p:sp>
      <p:sp>
        <p:nvSpPr>
          <p:cNvPr id="271" name="Google Shape;271;p2"/>
          <p:cNvSpPr txBox="1"/>
          <p:nvPr>
            <p:ph idx="3" type="body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Cyclic behaviour: More prey → more predators → fewer prey → fewer predators → more prey again</a:t>
            </a:r>
            <a:endParaRPr/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Balance: Models show when predator and prey populations can coexist without either going extinct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50"/>
              <a:buNone/>
            </a:pPr>
            <a:r>
              <a:t/>
            </a:r>
            <a:endParaRPr/>
          </a:p>
        </p:txBody>
      </p:sp>
      <p:pic>
        <p:nvPicPr>
          <p:cNvPr id="272" name="Google Shape;27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6925" y="1771025"/>
            <a:ext cx="4441274" cy="219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Lotka-Volterra Equations</a:t>
            </a:r>
            <a:endParaRPr/>
          </a:p>
        </p:txBody>
      </p:sp>
      <p:sp>
        <p:nvSpPr>
          <p:cNvPr id="278" name="Google Shape;278;p3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Population-Level Ordinary Differential Equations</a:t>
            </a:r>
            <a:endParaRPr/>
          </a:p>
        </p:txBody>
      </p:sp>
      <p:sp>
        <p:nvSpPr>
          <p:cNvPr id="279" name="Google Shape;279;p3"/>
          <p:cNvSpPr txBox="1"/>
          <p:nvPr>
            <p:ph idx="3" type="body"/>
          </p:nvPr>
        </p:nvSpPr>
        <p:spPr>
          <a:xfrm>
            <a:off x="456400" y="1983350"/>
            <a:ext cx="39378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Represents populations, and not individual animals or their behaviour</a:t>
            </a:r>
            <a:endParaRPr/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Describes how the number of sheep and wolves changes over time</a:t>
            </a:r>
            <a:endParaRPr/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Uses equations to represent processes such as reproduction, death, and predation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50"/>
              <a:buNone/>
            </a:pPr>
            <a:r>
              <a:t/>
            </a:r>
            <a:endParaRPr/>
          </a:p>
        </p:txBody>
      </p:sp>
      <p:pic>
        <p:nvPicPr>
          <p:cNvPr id="280" name="Google Shape;28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075" y="1763050"/>
            <a:ext cx="4444099" cy="219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Wolf Sheep Predation Model</a:t>
            </a:r>
            <a:endParaRPr/>
          </a:p>
        </p:txBody>
      </p:sp>
      <p:sp>
        <p:nvSpPr>
          <p:cNvPr id="286" name="Google Shape;286;p4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Individual-Level Agent-Based Model</a:t>
            </a:r>
            <a:endParaRPr/>
          </a:p>
        </p:txBody>
      </p:sp>
      <p:sp>
        <p:nvSpPr>
          <p:cNvPr id="287" name="Google Shape;287;p4"/>
          <p:cNvSpPr txBox="1"/>
          <p:nvPr>
            <p:ph idx="3" type="body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Wolves and sheep are represented as individual agents with their own location, energy, and behaviour</a:t>
            </a:r>
            <a:endParaRPr/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Agents move, reproduce, eat, and interact with other agents </a:t>
            </a:r>
            <a:endParaRPr/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Population-level patterns emerge from individual behaviours</a:t>
            </a:r>
            <a:endParaRPr/>
          </a:p>
        </p:txBody>
      </p:sp>
      <p:pic>
        <p:nvPicPr>
          <p:cNvPr id="288" name="Google Shape;28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1425" y="1757375"/>
            <a:ext cx="3103375" cy="310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Wolf Sheep Predation Model</a:t>
            </a:r>
            <a:endParaRPr/>
          </a:p>
        </p:txBody>
      </p:sp>
      <p:sp>
        <p:nvSpPr>
          <p:cNvPr id="294" name="Google Shape;294;p5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Running the Model in NetLogo</a:t>
            </a:r>
            <a:endParaRPr/>
          </a:p>
        </p:txBody>
      </p:sp>
      <p:sp>
        <p:nvSpPr>
          <p:cNvPr id="295" name="Google Shape;295;p5"/>
          <p:cNvSpPr txBox="1"/>
          <p:nvPr>
            <p:ph idx="3" type="body"/>
          </p:nvPr>
        </p:nvSpPr>
        <p:spPr>
          <a:xfrm>
            <a:off x="456400" y="1808725"/>
            <a:ext cx="3780300" cy="19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AutoNum type="arabicPeriod"/>
            </a:pPr>
            <a:r>
              <a:rPr lang="en"/>
              <a:t>File</a:t>
            </a:r>
            <a:endParaRPr/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AutoNum type="arabicPeriod"/>
            </a:pPr>
            <a:r>
              <a:rPr lang="en"/>
              <a:t>Models Library</a:t>
            </a:r>
            <a:endParaRPr/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AutoNum type="arabicPeriod"/>
            </a:pPr>
            <a:r>
              <a:rPr lang="en"/>
              <a:t>Search for “Wolf Sheep Predation”</a:t>
            </a:r>
            <a:endParaRPr/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AutoNum type="arabicPeriod"/>
            </a:pPr>
            <a:r>
              <a:rPr lang="en"/>
              <a:t>Sample Models -&gt; Biology -&gt; Wolf Sheep Predation</a:t>
            </a:r>
            <a:endParaRPr/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AutoNum type="arabicPeriod"/>
            </a:pPr>
            <a:r>
              <a:rPr lang="en"/>
              <a:t>model-version = “sheep-wolves-grass”</a:t>
            </a:r>
            <a:endParaRPr/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AutoNum type="arabicPeriod"/>
            </a:pPr>
            <a:r>
              <a:rPr lang="en"/>
              <a:t>setup -&gt; go </a:t>
            </a:r>
            <a:endParaRPr/>
          </a:p>
        </p:txBody>
      </p:sp>
      <p:pic>
        <p:nvPicPr>
          <p:cNvPr id="296" name="Google Shape;29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4825" y="1749800"/>
            <a:ext cx="4500900" cy="25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5"/>
          <p:cNvSpPr txBox="1"/>
          <p:nvPr>
            <p:ph idx="3" type="body"/>
          </p:nvPr>
        </p:nvSpPr>
        <p:spPr>
          <a:xfrm>
            <a:off x="337300" y="3841500"/>
            <a:ext cx="40185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50"/>
              <a:buNone/>
            </a:pPr>
            <a:r>
              <a:rPr lang="en"/>
              <a:t>Can you adjust the model parameters so that the population of sheep is as close as possible to 120 at time 100?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What is Calibration?</a:t>
            </a:r>
            <a:endParaRPr/>
          </a:p>
        </p:txBody>
      </p:sp>
      <p:sp>
        <p:nvSpPr>
          <p:cNvPr id="303" name="Google Shape;303;p6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From Models to Reality</a:t>
            </a:r>
            <a:endParaRPr/>
          </a:p>
        </p:txBody>
      </p:sp>
      <p:sp>
        <p:nvSpPr>
          <p:cNvPr id="304" name="Google Shape;304;p6"/>
          <p:cNvSpPr txBox="1"/>
          <p:nvPr>
            <p:ph idx="3" type="body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</a:pPr>
            <a:r>
              <a:rPr lang="en"/>
              <a:t>Systematically adjusting model parameters so that simulated outputs are consistent with observed data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50"/>
              <a:buNone/>
            </a:pPr>
            <a:r>
              <a:t/>
            </a:r>
            <a:endParaRPr/>
          </a:p>
        </p:txBody>
      </p:sp>
      <p:pic>
        <p:nvPicPr>
          <p:cNvPr id="305" name="Google Shape;30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5575" y="1724825"/>
            <a:ext cx="3780300" cy="3145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The Calibration Process</a:t>
            </a:r>
            <a:endParaRPr/>
          </a:p>
        </p:txBody>
      </p:sp>
      <p:sp>
        <p:nvSpPr>
          <p:cNvPr id="311" name="Google Shape;311;p7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Calibration as an Iterative Process</a:t>
            </a:r>
            <a:endParaRPr/>
          </a:p>
        </p:txBody>
      </p:sp>
      <p:pic>
        <p:nvPicPr>
          <p:cNvPr id="312" name="Google Shape;3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0075" y="1854101"/>
            <a:ext cx="4903826" cy="2972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The Challenges of Calibration</a:t>
            </a:r>
            <a:endParaRPr/>
          </a:p>
        </p:txBody>
      </p:sp>
      <p:sp>
        <p:nvSpPr>
          <p:cNvPr id="318" name="Google Shape;318;p8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Population-Level and Individual-Level Modelling</a:t>
            </a:r>
            <a:endParaRPr/>
          </a:p>
        </p:txBody>
      </p:sp>
      <p:graphicFrame>
        <p:nvGraphicFramePr>
          <p:cNvPr id="319" name="Google Shape;319;p8"/>
          <p:cNvGraphicFramePr/>
          <p:nvPr/>
        </p:nvGraphicFramePr>
        <p:xfrm>
          <a:off x="512300" y="19171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{E8723809-2EA0-48ED-A981-5019EE871195}</a:tableStyleId>
              </a:tblPr>
              <a:tblGrid>
                <a:gridCol w="1781300"/>
                <a:gridCol w="2732875"/>
                <a:gridCol w="3646100"/>
              </a:tblGrid>
              <a:tr h="36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t/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" sz="1250" u="none" cap="none" strike="noStrike">
                          <a:solidFill>
                            <a:schemeClr val="lt2"/>
                          </a:solidFill>
                        </a:rPr>
                        <a:t>Lotka-Volterra (Population-Level)</a:t>
                      </a:r>
                      <a:endParaRPr b="1"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" sz="1250" u="none" cap="none" strike="noStrike">
                          <a:solidFill>
                            <a:schemeClr val="lt2"/>
                          </a:solidFill>
                        </a:rPr>
                        <a:t>Wolf Sheep Predation (Individual-Level)</a:t>
                      </a:r>
                      <a:endParaRPr b="1"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" sz="1250" u="none" cap="none" strike="noStrike">
                          <a:solidFill>
                            <a:schemeClr val="lt2"/>
                          </a:solidFill>
                        </a:rPr>
                        <a:t>Parameters</a:t>
                      </a:r>
                      <a:endParaRPr b="1"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Usually fewer</a:t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Usually more</a:t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" sz="1250" u="none" cap="none" strike="noStrike">
                          <a:solidFill>
                            <a:schemeClr val="lt2"/>
                          </a:solidFill>
                        </a:rPr>
                        <a:t>Population- Level Dynamics</a:t>
                      </a:r>
                      <a:endParaRPr b="1"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Explicit</a:t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Often emergent</a:t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" sz="1250" u="none" cap="none" strike="noStrike">
                          <a:solidFill>
                            <a:schemeClr val="lt2"/>
                          </a:solidFill>
                        </a:rPr>
                        <a:t>Stochasticity</a:t>
                      </a:r>
                      <a:endParaRPr b="1"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Often deterministic</a:t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Often stochastic</a:t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" sz="1250" u="none" cap="none" strike="noStrike">
                          <a:solidFill>
                            <a:schemeClr val="lt2"/>
                          </a:solidFill>
                        </a:rPr>
                        <a:t>Computational cost</a:t>
                      </a:r>
                      <a:endParaRPr b="1"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Usually lower</a:t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Usually higher</a:t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11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" sz="1250" u="none" cap="none" strike="noStrike">
                          <a:solidFill>
                            <a:schemeClr val="lt2"/>
                          </a:solidFill>
                        </a:rPr>
                        <a:t>Observation level</a:t>
                      </a:r>
                      <a:endParaRPr b="1"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Matches model level</a:t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Often aggregated to system level - mismatch</a:t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" sz="1250" u="none" cap="none" strike="noStrike">
                          <a:solidFill>
                            <a:schemeClr val="lt2"/>
                          </a:solidFill>
                        </a:rPr>
                        <a:t>Calibration</a:t>
                      </a:r>
                      <a:endParaRPr b="1"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Often easier</a:t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Often more difficult</a:t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"/>
          <p:cNvSpPr txBox="1"/>
          <p:nvPr>
            <p:ph type="title"/>
          </p:nvPr>
        </p:nvSpPr>
        <p:spPr>
          <a:xfrm>
            <a:off x="635500" y="228600"/>
            <a:ext cx="80853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The Challenges of Calibration</a:t>
            </a:r>
            <a:endParaRPr/>
          </a:p>
        </p:txBody>
      </p:sp>
      <p:sp>
        <p:nvSpPr>
          <p:cNvPr id="325" name="Google Shape;325;p9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Calibrating the Model from Observations</a:t>
            </a:r>
            <a:endParaRPr/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3138" y="1924425"/>
            <a:ext cx="6450025" cy="2851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"/>
          <p:cNvSpPr txBox="1"/>
          <p:nvPr>
            <p:ph type="title"/>
          </p:nvPr>
        </p:nvSpPr>
        <p:spPr>
          <a:xfrm>
            <a:off x="635500" y="228600"/>
            <a:ext cx="80853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Can You Identify the Challenge?</a:t>
            </a:r>
            <a:endParaRPr/>
          </a:p>
        </p:txBody>
      </p:sp>
      <p:sp>
        <p:nvSpPr>
          <p:cNvPr id="332" name="Google Shape;332;p10"/>
          <p:cNvSpPr txBox="1"/>
          <p:nvPr>
            <p:ph idx="1" type="subTitle"/>
          </p:nvPr>
        </p:nvSpPr>
        <p:spPr>
          <a:xfrm>
            <a:off x="381550" y="1094400"/>
            <a:ext cx="8593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Equifinality, multifinality, or identifiability?</a:t>
            </a:r>
            <a:endParaRPr/>
          </a:p>
        </p:txBody>
      </p:sp>
      <p:graphicFrame>
        <p:nvGraphicFramePr>
          <p:cNvPr id="333" name="Google Shape;333;p10"/>
          <p:cNvGraphicFramePr/>
          <p:nvPr/>
        </p:nvGraphicFramePr>
        <p:xfrm>
          <a:off x="771550" y="214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{E8723809-2EA0-48ED-A981-5019EE871195}</a:tableStyleId>
              </a:tblPr>
              <a:tblGrid>
                <a:gridCol w="5085450"/>
                <a:gridCol w="2727750"/>
              </a:tblGrid>
              <a:tr h="36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" sz="1250" u="none" cap="none" strike="noStrike">
                          <a:solidFill>
                            <a:schemeClr val="lt2"/>
                          </a:solidFill>
                        </a:rPr>
                        <a:t>Scenario </a:t>
                      </a:r>
                      <a:endParaRPr b="1"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" sz="1250" u="none" cap="none" strike="noStrike">
                          <a:solidFill>
                            <a:schemeClr val="lt2"/>
                          </a:solidFill>
                        </a:rPr>
                        <a:t>Answer</a:t>
                      </a:r>
                      <a:endParaRPr b="1"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We run the stochastic Wolf–Sheep model five times with identical parameters and obtain five different sheep population trajectories</a:t>
                      </a:r>
                      <a:endParaRPr b="1"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t/>
                      </a:r>
                      <a:endParaRPr b="1"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We try five different parameter combinations of sheep reproduction and wolf predation. All five fit the observations equally well</a:t>
                      </a:r>
                      <a:endParaRPr b="1"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t/>
                      </a:r>
                      <a:endParaRPr b="1"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Two very different parameter sets produce almost identical sheep population trajectories</a:t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t/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Exploring the Parameter Space</a:t>
            </a:r>
            <a:endParaRPr/>
          </a:p>
        </p:txBody>
      </p:sp>
      <p:sp>
        <p:nvSpPr>
          <p:cNvPr id="339" name="Google Shape;339;p11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Constructing a Parameter Sweep</a:t>
            </a:r>
            <a:endParaRPr/>
          </a:p>
        </p:txBody>
      </p:sp>
      <p:sp>
        <p:nvSpPr>
          <p:cNvPr id="340" name="Google Shape;340;p11"/>
          <p:cNvSpPr txBox="1"/>
          <p:nvPr>
            <p:ph idx="3" type="body"/>
          </p:nvPr>
        </p:nvSpPr>
        <p:spPr>
          <a:xfrm>
            <a:off x="456400" y="1983350"/>
            <a:ext cx="3780300" cy="29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Parameter space: Set of possible values for each parameter</a:t>
            </a:r>
            <a:endParaRPr/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Sweep through different parameter combinations. How does model behaviour change?</a:t>
            </a:r>
            <a:endParaRPr/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Combinatorial experiment: Test all possible combinations. 2 parameters and 4 values each: 4 x 4 = 16 combinations</a:t>
            </a:r>
            <a:endParaRPr/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Other experimental designs possible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50"/>
              <a:buNone/>
            </a:pPr>
            <a:r>
              <a:t/>
            </a:r>
            <a:endParaRPr/>
          </a:p>
        </p:txBody>
      </p:sp>
      <p:pic>
        <p:nvPicPr>
          <p:cNvPr id="341" name="Google Shape;34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771613"/>
            <a:ext cx="4327525" cy="3073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2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Exploring the Parameter Space</a:t>
            </a:r>
            <a:endParaRPr/>
          </a:p>
        </p:txBody>
      </p:sp>
      <p:sp>
        <p:nvSpPr>
          <p:cNvPr id="347" name="Google Shape;347;p12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Experiments in BehaviorSpace </a:t>
            </a:r>
            <a:endParaRPr/>
          </a:p>
        </p:txBody>
      </p:sp>
      <p:sp>
        <p:nvSpPr>
          <p:cNvPr id="348" name="Google Shape;348;p12"/>
          <p:cNvSpPr txBox="1"/>
          <p:nvPr>
            <p:ph idx="3" type="body"/>
          </p:nvPr>
        </p:nvSpPr>
        <p:spPr>
          <a:xfrm>
            <a:off x="387600" y="1745225"/>
            <a:ext cx="4184400" cy="3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Tools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BehaviorSpace 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BehaviorSpace combinatorial (16 runs)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Save Table output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Open Excel File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Delete all columns except: wolf-reproduce; wolf-gain-from-food; [step]; count sheep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Create “combination” column with formula: ="WR="&amp;A2&amp;", WGF="&amp;B2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Insert -&gt; Pivot Table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Rows = [step]; Column = combination; Values = count sheep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Sum of count sheep -&gt; Average of count sheep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Insert -&gt; 2D-Line</a:t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50"/>
              <a:buNone/>
            </a:pPr>
            <a:r>
              <a:t/>
            </a:r>
            <a:endParaRPr/>
          </a:p>
        </p:txBody>
      </p:sp>
      <p:pic>
        <p:nvPicPr>
          <p:cNvPr id="349" name="Google Shape;34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1125" y="1745225"/>
            <a:ext cx="4430051" cy="2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Repeat/Replicate Sampling</a:t>
            </a:r>
            <a:endParaRPr/>
          </a:p>
        </p:txBody>
      </p:sp>
      <p:sp>
        <p:nvSpPr>
          <p:cNvPr id="355" name="Google Shape;355;p13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Repeating Samples of Parameter Combinations</a:t>
            </a:r>
            <a:endParaRPr/>
          </a:p>
        </p:txBody>
      </p:sp>
      <p:sp>
        <p:nvSpPr>
          <p:cNvPr id="356" name="Google Shape;356;p13"/>
          <p:cNvSpPr txBox="1"/>
          <p:nvPr>
            <p:ph idx="3" type="body"/>
          </p:nvPr>
        </p:nvSpPr>
        <p:spPr>
          <a:xfrm>
            <a:off x="456400" y="1983350"/>
            <a:ext cx="40257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Due to randomness, stochastic models produce different outcomes with same parameters</a:t>
            </a:r>
            <a:endParaRPr/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Repeat simulations to characterise typical behaviour and spread</a:t>
            </a:r>
            <a:endParaRPr/>
          </a:p>
        </p:txBody>
      </p:sp>
      <p:pic>
        <p:nvPicPr>
          <p:cNvPr id="357" name="Google Shape;3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2050" y="1755775"/>
            <a:ext cx="4480975" cy="221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Repeat/Replicate Sampling</a:t>
            </a:r>
            <a:endParaRPr/>
          </a:p>
        </p:txBody>
      </p:sp>
      <p:sp>
        <p:nvSpPr>
          <p:cNvPr id="363" name="Google Shape;363;p14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Experiments in BehaviorSpace </a:t>
            </a:r>
            <a:endParaRPr/>
          </a:p>
        </p:txBody>
      </p:sp>
      <p:sp>
        <p:nvSpPr>
          <p:cNvPr id="364" name="Google Shape;364;p14"/>
          <p:cNvSpPr txBox="1"/>
          <p:nvPr>
            <p:ph idx="3" type="body"/>
          </p:nvPr>
        </p:nvSpPr>
        <p:spPr>
          <a:xfrm>
            <a:off x="345275" y="1856350"/>
            <a:ext cx="4025700" cy="29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Tools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BehaviorSpace 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New BehaviorSpace Features (15 runs)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Save Table output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Open Excel File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Delete all columns except: [run number]; wolf-gain-from-food; [step]; count sheep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Data -&gt; Filter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wolf-gain-from-food = 30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Insert -&gt; Pivot Table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Rows = [step]; Column = [run number]; Values = count sheep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Sum of count sheep -&gt; Average of count sheep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Insert -&gt; 2D-Line</a:t>
            </a:r>
            <a:endParaRPr sz="1250"/>
          </a:p>
        </p:txBody>
      </p:sp>
      <p:pic>
        <p:nvPicPr>
          <p:cNvPr id="365" name="Google Shape;3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5750" y="1756900"/>
            <a:ext cx="4419551" cy="20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5"/>
          <p:cNvSpPr txBox="1"/>
          <p:nvPr>
            <p:ph type="title"/>
          </p:nvPr>
        </p:nvSpPr>
        <p:spPr>
          <a:xfrm>
            <a:off x="635500" y="228600"/>
            <a:ext cx="84345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Performing a Sensitivity Analysis</a:t>
            </a:r>
            <a:endParaRPr/>
          </a:p>
        </p:txBody>
      </p:sp>
      <p:sp>
        <p:nvSpPr>
          <p:cNvPr id="371" name="Google Shape;371;p15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Which parameters most greatly influence model behaviour?</a:t>
            </a:r>
            <a:endParaRPr/>
          </a:p>
        </p:txBody>
      </p:sp>
      <p:sp>
        <p:nvSpPr>
          <p:cNvPr id="372" name="Google Shape;372;p15"/>
          <p:cNvSpPr txBox="1"/>
          <p:nvPr>
            <p:ph idx="3" type="body"/>
          </p:nvPr>
        </p:nvSpPr>
        <p:spPr>
          <a:xfrm>
            <a:off x="345275" y="1856350"/>
            <a:ext cx="4025700" cy="29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Measures how changes in model parameters affect model outputs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Identifies parameters that have strong or weak influence on model behaviour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Prioritise parameters for calibration</a:t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Sensitivity indices from 358,400 simulations (not in NetLogo)</a:t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sz="1250"/>
          </a:p>
          <a:p>
            <a:pPr indent="-3079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1024 * (5+2) * 50 = 358,400 simulation runs</a:t>
            </a:r>
            <a:endParaRPr sz="1250"/>
          </a:p>
        </p:txBody>
      </p:sp>
      <p:pic>
        <p:nvPicPr>
          <p:cNvPr id="373" name="Google Shape;3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7925" y="1771650"/>
            <a:ext cx="4413325" cy="273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6"/>
          <p:cNvSpPr txBox="1"/>
          <p:nvPr>
            <p:ph type="title"/>
          </p:nvPr>
        </p:nvSpPr>
        <p:spPr>
          <a:xfrm>
            <a:off x="635500" y="228600"/>
            <a:ext cx="80853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Calibration by Optimisation</a:t>
            </a:r>
            <a:endParaRPr/>
          </a:p>
        </p:txBody>
      </p:sp>
      <p:sp>
        <p:nvSpPr>
          <p:cNvPr id="379" name="Google Shape;379;p16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What is Calibration by Optimisation?</a:t>
            </a:r>
            <a:endParaRPr/>
          </a:p>
        </p:txBody>
      </p:sp>
      <p:pic>
        <p:nvPicPr>
          <p:cNvPr id="380" name="Google Shape;3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125" y="1886325"/>
            <a:ext cx="6286199" cy="293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7"/>
          <p:cNvSpPr txBox="1"/>
          <p:nvPr>
            <p:ph type="title"/>
          </p:nvPr>
        </p:nvSpPr>
        <p:spPr>
          <a:xfrm>
            <a:off x="635500" y="228600"/>
            <a:ext cx="84345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Finding the Best Fit</a:t>
            </a:r>
            <a:endParaRPr/>
          </a:p>
        </p:txBody>
      </p:sp>
      <p:sp>
        <p:nvSpPr>
          <p:cNvPr id="386" name="Google Shape;386;p17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Parameter Values that Produces the Smallest Error</a:t>
            </a:r>
            <a:endParaRPr/>
          </a:p>
        </p:txBody>
      </p:sp>
      <p:sp>
        <p:nvSpPr>
          <p:cNvPr id="387" name="Google Shape;387;p17"/>
          <p:cNvSpPr txBox="1"/>
          <p:nvPr>
            <p:ph idx="3" type="body"/>
          </p:nvPr>
        </p:nvSpPr>
        <p:spPr>
          <a:xfrm>
            <a:off x="345275" y="1856350"/>
            <a:ext cx="4025700" cy="29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Calculate error: (Simulated−Observed)^2</a:t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sz="125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50"/>
              <a:buNone/>
            </a:pPr>
            <a:r>
              <a:t/>
            </a:r>
            <a:endParaRPr sz="1250"/>
          </a:p>
        </p:txBody>
      </p:sp>
      <p:pic>
        <p:nvPicPr>
          <p:cNvPr id="388" name="Google Shape;3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3927" y="2425150"/>
            <a:ext cx="2787752" cy="185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0646" y="1755775"/>
            <a:ext cx="4360629" cy="309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8"/>
          <p:cNvSpPr txBox="1"/>
          <p:nvPr>
            <p:ph type="title"/>
          </p:nvPr>
        </p:nvSpPr>
        <p:spPr>
          <a:xfrm>
            <a:off x="635500" y="228600"/>
            <a:ext cx="84345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Finding the Best Fit</a:t>
            </a:r>
            <a:endParaRPr/>
          </a:p>
        </p:txBody>
      </p:sp>
      <p:sp>
        <p:nvSpPr>
          <p:cNvPr id="395" name="Google Shape;395;p18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Optimisation in BehaviorSearch</a:t>
            </a:r>
            <a:endParaRPr/>
          </a:p>
        </p:txBody>
      </p:sp>
      <p:sp>
        <p:nvSpPr>
          <p:cNvPr id="396" name="Google Shape;396;p18"/>
          <p:cNvSpPr txBox="1"/>
          <p:nvPr>
            <p:ph idx="3" type="body"/>
          </p:nvPr>
        </p:nvSpPr>
        <p:spPr>
          <a:xfrm>
            <a:off x="219975" y="1768875"/>
            <a:ext cx="4433700" cy="3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Visit C:\Program Files\NetLogo 7.0.4</a:t>
            </a:r>
            <a:endParaRPr sz="4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Open BehaviorSearch.exe</a:t>
            </a:r>
            <a:endParaRPr sz="4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Browse for model = C:\Program Files\NetLogo 7.0.4\models\Sample Models\Biology\Wolf Sheep Predation.nlogox</a:t>
            </a:r>
            <a:endParaRPr sz="4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Load parameter ranges from model interface</a:t>
            </a:r>
            <a:endParaRPr sz="4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["wolf-gain-from-food" [0 "C" 100]]</a:t>
            </a:r>
            <a:endParaRPr sz="4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["model-version" "sheep-wolves-grass"]</a:t>
            </a:r>
            <a:endParaRPr sz="4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Measure =  (count sheep - 120) ^ 2</a:t>
            </a:r>
            <a:endParaRPr sz="4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Search Objective -&gt; Minimize Fitness</a:t>
            </a:r>
            <a:endParaRPr sz="4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Output file stem (sic)</a:t>
            </a:r>
            <a:endParaRPr sz="4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Open *.objectiveFunctionHistory.csv</a:t>
            </a:r>
            <a:endParaRPr sz="4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Select wolf-gain-from-food* and best-fitness-so-far</a:t>
            </a:r>
            <a:endParaRPr sz="4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Insert -&gt; Scatter</a:t>
            </a:r>
            <a:endParaRPr sz="4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sz="12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sz="125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50"/>
              <a:buNone/>
            </a:pPr>
            <a:r>
              <a:t/>
            </a:r>
            <a:endParaRPr sz="1250"/>
          </a:p>
        </p:txBody>
      </p:sp>
      <p:pic>
        <p:nvPicPr>
          <p:cNvPr id="397" name="Google Shape;39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3950" y="1750891"/>
            <a:ext cx="4433699" cy="2668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9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Beyond One Best Fit</a:t>
            </a:r>
            <a:endParaRPr/>
          </a:p>
        </p:txBody>
      </p:sp>
      <p:sp>
        <p:nvSpPr>
          <p:cNvPr id="403" name="Google Shape;403;p19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Why Might a Single Best Fit Not Be Enough?</a:t>
            </a:r>
            <a:endParaRPr/>
          </a:p>
        </p:txBody>
      </p:sp>
      <p:graphicFrame>
        <p:nvGraphicFramePr>
          <p:cNvPr id="404" name="Google Shape;404;p19"/>
          <p:cNvGraphicFramePr/>
          <p:nvPr/>
        </p:nvGraphicFramePr>
        <p:xfrm>
          <a:off x="491650" y="202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{E8723809-2EA0-48ED-A981-5019EE871195}</a:tableStyleId>
              </a:tblPr>
              <a:tblGrid>
                <a:gridCol w="2249550"/>
                <a:gridCol w="5947125"/>
              </a:tblGrid>
              <a:tr h="356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" sz="1250" u="none" cap="none" strike="noStrike">
                          <a:solidFill>
                            <a:schemeClr val="lt2"/>
                          </a:solidFill>
                        </a:rPr>
                        <a:t>Challenge</a:t>
                      </a:r>
                      <a:endParaRPr b="1"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" sz="1250" u="none" cap="none" strike="noStrike">
                          <a:solidFill>
                            <a:schemeClr val="lt2"/>
                          </a:solidFill>
                        </a:rPr>
                        <a:t>What it means for optimisation</a:t>
                      </a:r>
                      <a:endParaRPr b="1"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37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Multifinality</a:t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Noisy errors: The same parameters can produce different errors</a:t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Equifinality</a:t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Multiple good fits: Different parameter combinations can produce similarly good fits</a:t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Identifiability</a:t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" sz="1250" u="none" cap="none" strike="noStrike">
                          <a:solidFill>
                            <a:schemeClr val="lt2"/>
                          </a:solidFill>
                        </a:rPr>
                        <a:t>Limited information: Observations may not contain enough information to identify a unique best fit</a:t>
                      </a:r>
                      <a:endParaRPr sz="125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5" name="Google Shape;405;p19"/>
          <p:cNvSpPr txBox="1"/>
          <p:nvPr>
            <p:ph idx="2" type="body"/>
          </p:nvPr>
        </p:nvSpPr>
        <p:spPr>
          <a:xfrm>
            <a:off x="1505685" y="4222875"/>
            <a:ext cx="61686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50"/>
              <a:buNone/>
            </a:pPr>
            <a:r>
              <a:rPr lang="en" sz="1250"/>
              <a:t>A single best fit does not capture the uncertainty in the parameters of the model</a:t>
            </a:r>
            <a:endParaRPr sz="12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 txBox="1"/>
          <p:nvPr>
            <p:ph type="title"/>
          </p:nvPr>
        </p:nvSpPr>
        <p:spPr>
          <a:xfrm>
            <a:off x="403625" y="227100"/>
            <a:ext cx="86145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Applications of Bayesian Calibration</a:t>
            </a:r>
            <a:endParaRPr/>
          </a:p>
        </p:txBody>
      </p:sp>
      <p:sp>
        <p:nvSpPr>
          <p:cNvPr id="411" name="Google Shape;411;p20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Which Parameter Values are Plausible Given the Evidence?</a:t>
            </a:r>
            <a:endParaRPr/>
          </a:p>
        </p:txBody>
      </p:sp>
      <p:pic>
        <p:nvPicPr>
          <p:cNvPr id="412" name="Google Shape;4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6513" y="1856691"/>
            <a:ext cx="5928726" cy="296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1"/>
          <p:cNvSpPr txBox="1"/>
          <p:nvPr>
            <p:ph type="title"/>
          </p:nvPr>
        </p:nvSpPr>
        <p:spPr>
          <a:xfrm>
            <a:off x="439594" y="227100"/>
            <a:ext cx="86145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From a Best Fit to a Distribution</a:t>
            </a:r>
            <a:endParaRPr/>
          </a:p>
        </p:txBody>
      </p:sp>
      <p:sp>
        <p:nvSpPr>
          <p:cNvPr id="418" name="Google Shape;418;p21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What do we Gain from Bayesian Calibration?</a:t>
            </a:r>
            <a:endParaRPr/>
          </a:p>
        </p:txBody>
      </p:sp>
      <p:pic>
        <p:nvPicPr>
          <p:cNvPr id="419" name="Google Shape;4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268" y="2346459"/>
            <a:ext cx="454745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7168" y="2170538"/>
            <a:ext cx="3485000" cy="216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"/>
          <p:cNvSpPr txBox="1"/>
          <p:nvPr>
            <p:ph type="title"/>
          </p:nvPr>
        </p:nvSpPr>
        <p:spPr>
          <a:xfrm>
            <a:off x="439594" y="227100"/>
            <a:ext cx="86145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3900"/>
              <a:t>What Does the Posterior Tell Us?</a:t>
            </a:r>
            <a:endParaRPr sz="3900"/>
          </a:p>
        </p:txBody>
      </p:sp>
      <p:sp>
        <p:nvSpPr>
          <p:cNvPr id="426" name="Google Shape;426;p22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Equifinality, multifinality, and identifiability</a:t>
            </a:r>
            <a:endParaRPr/>
          </a:p>
        </p:txBody>
      </p:sp>
      <p:pic>
        <p:nvPicPr>
          <p:cNvPr id="427" name="Google Shape;4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231" y="2694950"/>
            <a:ext cx="2762326" cy="171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3774" y="2694949"/>
            <a:ext cx="2762326" cy="1713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8943" y="2694950"/>
            <a:ext cx="2762326" cy="171332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2"/>
          <p:cNvSpPr txBox="1"/>
          <p:nvPr>
            <p:ph idx="2" type="body"/>
          </p:nvPr>
        </p:nvSpPr>
        <p:spPr>
          <a:xfrm>
            <a:off x="3249888" y="2130750"/>
            <a:ext cx="2644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16757"/>
              <a:buNone/>
            </a:pPr>
            <a:r>
              <a:rPr lang="en" sz="1250"/>
              <a:t>Match the challenge to the image</a:t>
            </a:r>
            <a:endParaRPr sz="12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b1bdadd39_0_0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Evaluating the Calibration</a:t>
            </a:r>
            <a:endParaRPr/>
          </a:p>
        </p:txBody>
      </p:sp>
      <p:sp>
        <p:nvSpPr>
          <p:cNvPr id="436" name="Google Shape;436;g3fb1bdadd39_0_0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calibration hold up?</a:t>
            </a:r>
            <a:endParaRPr/>
          </a:p>
        </p:txBody>
      </p:sp>
      <p:pic>
        <p:nvPicPr>
          <p:cNvPr id="437" name="Google Shape;437;g3fb1bdadd3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2300" y="1855224"/>
            <a:ext cx="6163277" cy="295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3"/>
          <p:cNvSpPr txBox="1"/>
          <p:nvPr>
            <p:ph type="title"/>
          </p:nvPr>
        </p:nvSpPr>
        <p:spPr>
          <a:xfrm>
            <a:off x="439594" y="227100"/>
            <a:ext cx="86145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Future Directions</a:t>
            </a:r>
            <a:endParaRPr/>
          </a:p>
        </p:txBody>
      </p:sp>
      <p:sp>
        <p:nvSpPr>
          <p:cNvPr id="443" name="Google Shape;443;p23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Can We Make Better Use of Our Simulations?</a:t>
            </a:r>
            <a:endParaRPr/>
          </a:p>
        </p:txBody>
      </p:sp>
      <p:pic>
        <p:nvPicPr>
          <p:cNvPr id="444" name="Google Shape;4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8838" y="1854101"/>
            <a:ext cx="5270225" cy="299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450" name="Google Shape;450;p24"/>
          <p:cNvSpPr txBox="1"/>
          <p:nvPr>
            <p:ph idx="3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The Following 45 Minutes</a:t>
            </a:r>
            <a:endParaRPr/>
          </a:p>
        </p:txBody>
      </p:sp>
      <p:sp>
        <p:nvSpPr>
          <p:cNvPr id="451" name="Google Shape;451;p24"/>
          <p:cNvSpPr txBox="1"/>
          <p:nvPr>
            <p:ph idx="1" type="body"/>
          </p:nvPr>
        </p:nvSpPr>
        <p:spPr>
          <a:xfrm>
            <a:off x="562550" y="2146900"/>
            <a:ext cx="3782700" cy="23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300"/>
              <a:t>Python </a:t>
            </a:r>
            <a:r>
              <a:rPr lang="en" sz="1300"/>
              <a:t>Code Examples of: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Exploration via Space-Filling Designs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Global Sensitivity Analysis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Black-Box Optimisation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Likelihood-Free Bayesian Calibration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Future Directions: SBI and Surrogates</a:t>
            </a:r>
            <a:endParaRPr sz="13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p24"/>
          <p:cNvSpPr txBox="1"/>
          <p:nvPr>
            <p:ph idx="2" type="body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300"/>
              <a:t>Group Idea Development: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Develop your own ABM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Rotate into New Groups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5"/>
          <p:cNvSpPr txBox="1"/>
          <p:nvPr>
            <p:ph type="title"/>
          </p:nvPr>
        </p:nvSpPr>
        <p:spPr>
          <a:xfrm>
            <a:off x="1248900" y="896250"/>
            <a:ext cx="66462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rPr lang="en" sz="5000"/>
              <a:t>Thank You</a:t>
            </a:r>
            <a:endParaRPr sz="5000"/>
          </a:p>
        </p:txBody>
      </p:sp>
      <p:sp>
        <p:nvSpPr>
          <p:cNvPr id="458" name="Google Shape;458;p25"/>
          <p:cNvSpPr txBox="1"/>
          <p:nvPr>
            <p:ph idx="1" type="subTitle"/>
          </p:nvPr>
        </p:nvSpPr>
        <p:spPr>
          <a:xfrm>
            <a:off x="749400" y="3491850"/>
            <a:ext cx="76452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https://github.com/JBris/calibrating-abms-workshop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yllabus / Course Overview #1">
  <a:themeElements>
    <a:clrScheme name="Simple Light">
      <a:dk1>
        <a:srgbClr val="03045E"/>
      </a:dk1>
      <a:lt1>
        <a:srgbClr val="CAF0F8"/>
      </a:lt1>
      <a:dk2>
        <a:srgbClr val="00508A"/>
      </a:dk2>
      <a:lt2>
        <a:srgbClr val="FFFFFF"/>
      </a:lt2>
      <a:accent1>
        <a:srgbClr val="86FFFF"/>
      </a:accent1>
      <a:accent2>
        <a:srgbClr val="90E0EF"/>
      </a:accent2>
      <a:accent3>
        <a:srgbClr val="0077B6"/>
      </a:accent3>
      <a:accent4>
        <a:srgbClr val="0096C7"/>
      </a:accent4>
      <a:accent5>
        <a:srgbClr val="00B4D8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