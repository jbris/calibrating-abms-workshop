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Young Serif"/>
      <p:regular r:id="rId36"/>
    </p:embeddedFont>
    <p:embeddedFont>
      <p:font typeface="Rubik"/>
      <p:regular r:id="rId37"/>
      <p:bold r:id="rId38"/>
      <p:italic r:id="rId39"/>
      <p:boldItalic r:id="rId40"/>
    </p:embeddedFont>
    <p:embeddedFont>
      <p:font typeface="Rubik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B22F8E-D404-4681-896E-25337727F38C}">
  <a:tblStyle styleId="{52B22F8E-D404-4681-896E-25337727F38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ubik-boldItalic.fntdata"/><Relationship Id="rId20" Type="http://schemas.openxmlformats.org/officeDocument/2006/relationships/slide" Target="slides/slide13.xml"/><Relationship Id="rId42" Type="http://schemas.openxmlformats.org/officeDocument/2006/relationships/font" Target="fonts/RubikSemiBold-bold.fntdata"/><Relationship Id="rId41" Type="http://schemas.openxmlformats.org/officeDocument/2006/relationships/font" Target="fonts/RubikSemiBold-regular.fntdata"/><Relationship Id="rId22" Type="http://schemas.openxmlformats.org/officeDocument/2006/relationships/slide" Target="slides/slide15.xml"/><Relationship Id="rId44" Type="http://schemas.openxmlformats.org/officeDocument/2006/relationships/font" Target="fonts/RubikSemiBold-boldItalic.fntdata"/><Relationship Id="rId21" Type="http://schemas.openxmlformats.org/officeDocument/2006/relationships/slide" Target="slides/slide14.xml"/><Relationship Id="rId43" Type="http://schemas.openxmlformats.org/officeDocument/2006/relationships/font" Target="fonts/RubikSemiBold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ubik-regular.fntdata"/><Relationship Id="rId14" Type="http://schemas.openxmlformats.org/officeDocument/2006/relationships/slide" Target="slides/slide7.xml"/><Relationship Id="rId36" Type="http://schemas.openxmlformats.org/officeDocument/2006/relationships/font" Target="fonts/YoungSerif-regular.fntdata"/><Relationship Id="rId17" Type="http://schemas.openxmlformats.org/officeDocument/2006/relationships/slide" Target="slides/slide10.xml"/><Relationship Id="rId39" Type="http://schemas.openxmlformats.org/officeDocument/2006/relationships/font" Target="fonts/Rubik-italic.fntdata"/><Relationship Id="rId16" Type="http://schemas.openxmlformats.org/officeDocument/2006/relationships/slide" Target="slides/slide9.xml"/><Relationship Id="rId38" Type="http://schemas.openxmlformats.org/officeDocument/2006/relationships/font" Target="fonts/Rubik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89d27c1aa_0_2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89d27c1aa_0_2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89d27c1aa_0_2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89d27c1aa_0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40fb5fa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40fb5fa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40fb5fa0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40fb5fa0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40fb5fa0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40fb5fa0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40fb5fa0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40fb5fa0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40fb5fa0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40fb5fa0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0fb5fa0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40fb5fa0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40fb5fa0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40fb5fa0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0fb5fa0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40fb5fa0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Stochasticity → Multifinality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More parameters + emergent dynamics → Equifinality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Individual-level model + system-level observations → can contribute to Identifiability problems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40fb5fa0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40fb5fa0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40fb5fa0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40fb5fa0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40fb5fa00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40fb5fa0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40fb5fa0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40fb5fa0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40fb5fa00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40fb5fa00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40fb5fa00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40fb5fa0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40fb5fa00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40fb5fa00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40fb5fa00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40fb5fa00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40fb5fa00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40fb5fa00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8ad32b691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8ad32b691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8ad32b691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8ad32b691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8ad32b691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f8ad32b691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8ad32b691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f8ad32b691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8ad32b691_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f8ad32b691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8ad32b691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8ad32b691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8ad32b691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f8ad32b691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89d27c1aa_0_2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89d27c1aa_0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40fb5fa0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f40fb5fa0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06" name="Google Shape;106;p2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" name="Google Shape;121;p2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2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2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3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68" name="Google Shape;168;p3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3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5" name="Google Shape;175;p3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0" name="Google Shape;180;p3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34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4" name="Google Shape;184;p34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8" name="Google Shape;188;p3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9" name="Google Shape;189;p35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0" name="Google Shape;190;p3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1" name="Google Shape;191;p35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2" name="Google Shape;192;p35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6" name="Google Shape;196;p3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7" name="Google Shape;197;p36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8" name="Google Shape;198;p3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9" name="Google Shape;199;p36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6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1" name="Google Shape;201;p36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3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5" name="Google Shape;205;p3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37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7" name="Google Shape;207;p37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8" name="Google Shape;208;p3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7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0" name="Google Shape;210;p37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3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3" name="Google Shape;213;p3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6" name="Google Shape;216;p3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7" name="Google Shape;217;p3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8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9" name="Google Shape;219;p38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0" name="Google Shape;220;p3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1" name="Google Shape;221;p38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2" name="Google Shape;222;p3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3" name="Google Shape;223;p38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7" name="Google Shape;227;p3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8" name="Google Shape;228;p39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9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0" name="Google Shape;230;p39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1" name="Google Shape;231;p39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2" name="Google Shape;232;p39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3" name="Google Shape;233;p39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4" name="Google Shape;234;p39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5" name="Google Shape;235;p3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8" name="Google Shape;238;p4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9" name="Google Shape;239;p40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4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40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2" name="Google Shape;242;p40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3" name="Google Shape;243;p40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4" name="Google Shape;244;p40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5" name="Google Shape;245;p40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6" name="Google Shape;246;p40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40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8" name="Google Shape;248;p40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9" name="Google Shape;249;p40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0" name="Google Shape;250;p40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1" name="Google Shape;251;p40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2" name="Google Shape;252;p40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5" name="Google Shape;255;p41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1248900" y="564650"/>
            <a:ext cx="6646200" cy="291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An </a:t>
            </a:r>
            <a:r>
              <a:rPr lang="en" sz="5000"/>
              <a:t>Introduction</a:t>
            </a:r>
            <a:r>
              <a:rPr lang="en" sz="5000"/>
              <a:t> to the Calibration of Agent-Based Models</a:t>
            </a:r>
            <a:endParaRPr sz="5000"/>
          </a:p>
        </p:txBody>
      </p:sp>
      <p:sp>
        <p:nvSpPr>
          <p:cNvPr id="263" name="Google Shape;263;p43"/>
          <p:cNvSpPr txBox="1"/>
          <p:nvPr>
            <p:ph idx="1" type="subTitle"/>
          </p:nvPr>
        </p:nvSpPr>
        <p:spPr>
          <a:xfrm>
            <a:off x="2446850" y="38068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Bristow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69" name="Google Shape;269;p44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We’ll Be Covering</a:t>
            </a:r>
            <a:endParaRPr/>
          </a:p>
        </p:txBody>
      </p:sp>
      <p:sp>
        <p:nvSpPr>
          <p:cNvPr id="270" name="Google Shape;270;p44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Predator-Prey Modelling</a:t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What is Calibration?</a:t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The Challenges of Calibration</a:t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Exploring the Parameter Space</a:t>
            </a:r>
            <a:endParaRPr/>
          </a:p>
        </p:txBody>
      </p:sp>
      <p:sp>
        <p:nvSpPr>
          <p:cNvPr id="271" name="Google Shape;271;p44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Performing a Sensitivity Analysis</a:t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Calibration by Optimisation</a:t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Applications of Bayesian Calibration</a:t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Future Directions</a:t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Predator-Prey Modelling</a:t>
            </a:r>
            <a:endParaRPr/>
          </a:p>
        </p:txBody>
      </p:sp>
      <p:sp>
        <p:nvSpPr>
          <p:cNvPr id="277" name="Google Shape;277;p4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Model Predator–Prey Systems?</a:t>
            </a:r>
            <a:endParaRPr/>
          </a:p>
        </p:txBody>
      </p:sp>
      <p:sp>
        <p:nvSpPr>
          <p:cNvPr id="278" name="Google Shape;278;p45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Cyclic behaviour: More prey → more predators → fewer prey → fewer predators → more prey again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Balance: Models show when predator and prey populations can coexist without either going extinct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Assist with: Conservation, harvesting, and biological control</a:t>
            </a:r>
            <a:endParaRPr/>
          </a:p>
        </p:txBody>
      </p:sp>
      <p:pic>
        <p:nvPicPr>
          <p:cNvPr id="279" name="Google Shape;27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925" y="1771025"/>
            <a:ext cx="4441274" cy="21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Lotka-Volterra Equations</a:t>
            </a:r>
            <a:endParaRPr/>
          </a:p>
        </p:txBody>
      </p:sp>
      <p:sp>
        <p:nvSpPr>
          <p:cNvPr id="285" name="Google Shape;285;p4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Population-Level Non-Linear Model</a:t>
            </a:r>
            <a:endParaRPr/>
          </a:p>
        </p:txBody>
      </p:sp>
      <p:sp>
        <p:nvSpPr>
          <p:cNvPr id="286" name="Google Shape;286;p46"/>
          <p:cNvSpPr txBox="1"/>
          <p:nvPr>
            <p:ph idx="3" type="body"/>
          </p:nvPr>
        </p:nvSpPr>
        <p:spPr>
          <a:xfrm>
            <a:off x="456400" y="1983350"/>
            <a:ext cx="3937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Represents populations, and not individual animals or their behaviour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Describes how the number of sheep and wolves changes over time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Uses equations to represent processes such </a:t>
            </a:r>
            <a:r>
              <a:rPr lang="en"/>
              <a:t>as reproduction, death, and predation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4075" y="1763050"/>
            <a:ext cx="4444099" cy="21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Wolf Sheep Predation Model</a:t>
            </a:r>
            <a:endParaRPr/>
          </a:p>
        </p:txBody>
      </p:sp>
      <p:sp>
        <p:nvSpPr>
          <p:cNvPr id="293" name="Google Shape;293;p47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Individual-Level Agent-Based Model</a:t>
            </a:r>
            <a:endParaRPr/>
          </a:p>
        </p:txBody>
      </p:sp>
      <p:sp>
        <p:nvSpPr>
          <p:cNvPr id="294" name="Google Shape;294;p47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Wolves and sheep are represented as individual agents with their own location, energy, and behaviour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Agents move, reproduce, eat, and interact with other agents 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Population-level patterns emerge from individual behaviours</a:t>
            </a:r>
            <a:endParaRPr/>
          </a:p>
        </p:txBody>
      </p:sp>
      <p:pic>
        <p:nvPicPr>
          <p:cNvPr id="295" name="Google Shape;2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425" y="1757375"/>
            <a:ext cx="3103375" cy="31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Wolf Sheep Predation Model</a:t>
            </a:r>
            <a:endParaRPr/>
          </a:p>
        </p:txBody>
      </p:sp>
      <p:sp>
        <p:nvSpPr>
          <p:cNvPr id="301" name="Google Shape;301;p48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the Model in NetLogo</a:t>
            </a:r>
            <a:endParaRPr/>
          </a:p>
        </p:txBody>
      </p:sp>
      <p:sp>
        <p:nvSpPr>
          <p:cNvPr id="302" name="Google Shape;302;p48"/>
          <p:cNvSpPr txBox="1"/>
          <p:nvPr>
            <p:ph idx="3" type="body"/>
          </p:nvPr>
        </p:nvSpPr>
        <p:spPr>
          <a:xfrm>
            <a:off x="456400" y="1808725"/>
            <a:ext cx="3780300" cy="19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File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Models Library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Search for “Wolf Sheep Predation”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Sample Models -&gt; Biology -&gt; Wolf Sheep Predation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model-version = “sheep-wolves-grass”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"/>
              <a:t>setup -&gt; go </a:t>
            </a:r>
            <a:endParaRPr/>
          </a:p>
        </p:txBody>
      </p:sp>
      <p:pic>
        <p:nvPicPr>
          <p:cNvPr id="303" name="Google Shape;30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825" y="1749800"/>
            <a:ext cx="4500900" cy="25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8"/>
          <p:cNvSpPr txBox="1"/>
          <p:nvPr>
            <p:ph idx="3" type="body"/>
          </p:nvPr>
        </p:nvSpPr>
        <p:spPr>
          <a:xfrm>
            <a:off x="337300" y="3841500"/>
            <a:ext cx="40185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you adjust the model parameters so that the population of sheep is as close as possible to 225 at time 100?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Calibration?</a:t>
            </a:r>
            <a:endParaRPr/>
          </a:p>
        </p:txBody>
      </p:sp>
      <p:sp>
        <p:nvSpPr>
          <p:cNvPr id="310" name="Google Shape;310;p49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Models to Reality</a:t>
            </a:r>
            <a:endParaRPr/>
          </a:p>
        </p:txBody>
      </p:sp>
      <p:sp>
        <p:nvSpPr>
          <p:cNvPr id="311" name="Google Shape;311;p49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Adjusting</a:t>
            </a:r>
            <a:r>
              <a:rPr lang="en"/>
              <a:t> parameters so that simulated outputs most closely match real-world observed data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5575" y="1724825"/>
            <a:ext cx="3780300" cy="3145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Calibration Process</a:t>
            </a:r>
            <a:endParaRPr/>
          </a:p>
        </p:txBody>
      </p:sp>
      <p:sp>
        <p:nvSpPr>
          <p:cNvPr id="318" name="Google Shape;318;p50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Calibration as an Iterative Process</a:t>
            </a:r>
            <a:endParaRPr/>
          </a:p>
        </p:txBody>
      </p:sp>
      <p:pic>
        <p:nvPicPr>
          <p:cNvPr id="319" name="Google Shape;3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075" y="1854101"/>
            <a:ext cx="4903826" cy="297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 of Calibration</a:t>
            </a:r>
            <a:endParaRPr/>
          </a:p>
        </p:txBody>
      </p:sp>
      <p:sp>
        <p:nvSpPr>
          <p:cNvPr id="325" name="Google Shape;325;p51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Population-Level and Individual-Level Modelling</a:t>
            </a:r>
            <a:endParaRPr/>
          </a:p>
        </p:txBody>
      </p:sp>
      <p:graphicFrame>
        <p:nvGraphicFramePr>
          <p:cNvPr id="326" name="Google Shape;326;p51"/>
          <p:cNvGraphicFramePr/>
          <p:nvPr/>
        </p:nvGraphicFramePr>
        <p:xfrm>
          <a:off x="635500" y="1855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{52B22F8E-D404-4681-896E-25337727F38C}</a:tableStyleId>
              </a:tblPr>
              <a:tblGrid>
                <a:gridCol w="1849300"/>
                <a:gridCol w="2485975"/>
                <a:gridCol w="3501600"/>
              </a:tblGrid>
              <a:tr h="36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rgbClr val="FFFFFF"/>
                          </a:solidFill>
                        </a:rPr>
                        <a:t>Lotka-Volterra (System-Level)</a:t>
                      </a:r>
                      <a:endParaRPr b="1"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rgbClr val="FFFFFF"/>
                          </a:solidFill>
                        </a:rPr>
                        <a:t>Wolf Sheep Predation (Individual-Level)</a:t>
                      </a:r>
                      <a:endParaRPr b="1"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rgbClr val="FFFFFF"/>
                          </a:solidFill>
                        </a:rPr>
                        <a:t>Parameters</a:t>
                      </a:r>
                      <a:endParaRPr b="1"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Usually fewer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Usually more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rgbClr val="FFFFFF"/>
                          </a:solidFill>
                        </a:rPr>
                        <a:t>Dynamics</a:t>
                      </a:r>
                      <a:endParaRPr b="1"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Explicit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Often emergent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rgbClr val="FFFFFF"/>
                          </a:solidFill>
                        </a:rPr>
                        <a:t>Stochasticity</a:t>
                      </a:r>
                      <a:endParaRPr b="1"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Often deterministic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Often stochastic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rgbClr val="FFFFFF"/>
                          </a:solidFill>
                        </a:rPr>
                        <a:t>Computational cost</a:t>
                      </a:r>
                      <a:endParaRPr b="1"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Usually lower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Usually higher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rgbClr val="FFFFFF"/>
                          </a:solidFill>
                        </a:rPr>
                        <a:t>Observation level</a:t>
                      </a:r>
                      <a:endParaRPr b="1"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Matches model level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Often aggregated to system level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rgbClr val="FFFFFF"/>
                          </a:solidFill>
                        </a:rPr>
                        <a:t>Calibration</a:t>
                      </a:r>
                      <a:endParaRPr b="1"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Often easier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FFFFFF"/>
                          </a:solidFill>
                        </a:rPr>
                        <a:t>Often more difficult</a:t>
                      </a:r>
                      <a:endParaRPr sz="12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/>
          <p:nvPr>
            <p:ph type="title"/>
          </p:nvPr>
        </p:nvSpPr>
        <p:spPr>
          <a:xfrm>
            <a:off x="635500" y="228600"/>
            <a:ext cx="80853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 Systems Modelling</a:t>
            </a:r>
            <a:endParaRPr/>
          </a:p>
        </p:txBody>
      </p:sp>
      <p:sp>
        <p:nvSpPr>
          <p:cNvPr id="332" name="Google Shape;332;p52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</a:t>
            </a:r>
            <a:r>
              <a:rPr lang="en"/>
              <a:t>the Model from Observations</a:t>
            </a:r>
            <a:endParaRPr/>
          </a:p>
        </p:txBody>
      </p:sp>
      <p:pic>
        <p:nvPicPr>
          <p:cNvPr id="333" name="Google Shape;3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138" y="1924425"/>
            <a:ext cx="6450025" cy="285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/>
          <p:nvPr>
            <p:ph type="title"/>
          </p:nvPr>
        </p:nvSpPr>
        <p:spPr>
          <a:xfrm>
            <a:off x="635500" y="228600"/>
            <a:ext cx="80853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You Identify the Challenge?</a:t>
            </a:r>
            <a:endParaRPr/>
          </a:p>
        </p:txBody>
      </p:sp>
      <p:sp>
        <p:nvSpPr>
          <p:cNvPr id="339" name="Google Shape;339;p53"/>
          <p:cNvSpPr txBox="1"/>
          <p:nvPr>
            <p:ph idx="1" type="subTitle"/>
          </p:nvPr>
        </p:nvSpPr>
        <p:spPr>
          <a:xfrm>
            <a:off x="381550" y="1094400"/>
            <a:ext cx="85932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Equifinality, multifinality, or identifiability?</a:t>
            </a:r>
            <a:endParaRPr/>
          </a:p>
        </p:txBody>
      </p:sp>
      <p:graphicFrame>
        <p:nvGraphicFramePr>
          <p:cNvPr id="340" name="Google Shape;340;p53"/>
          <p:cNvGraphicFramePr/>
          <p:nvPr/>
        </p:nvGraphicFramePr>
        <p:xfrm>
          <a:off x="771550" y="214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{52B22F8E-D404-4681-896E-25337727F38C}</a:tableStyleId>
              </a:tblPr>
              <a:tblGrid>
                <a:gridCol w="5085450"/>
                <a:gridCol w="2727750"/>
              </a:tblGrid>
              <a:tr h="36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chemeClr val="lt2"/>
                          </a:solidFill>
                        </a:rPr>
                        <a:t>Scenario </a:t>
                      </a:r>
                      <a:endParaRPr b="1"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chemeClr val="lt2"/>
                          </a:solidFill>
                        </a:rPr>
                        <a:t>Answer</a:t>
                      </a:r>
                      <a:endParaRPr b="1"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We run the stochastic Wolf–Sheep model five times with identical parameters and obtain five different trajectories</a:t>
                      </a:r>
                      <a:endParaRPr b="1"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Sheep reproduction and wolf predation parameter values can both be changed while maintaining a good fit to the observation data</a:t>
                      </a:r>
                      <a:endParaRPr b="1"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Two very different parameter sets produce almost identical wolf–sheep trajectories</a:t>
                      </a:r>
                      <a:endParaRPr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the Parameter Space</a:t>
            </a:r>
            <a:endParaRPr/>
          </a:p>
        </p:txBody>
      </p:sp>
      <p:sp>
        <p:nvSpPr>
          <p:cNvPr id="346" name="Google Shape;346;p5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Constructing a Parameter Sweep</a:t>
            </a:r>
            <a:endParaRPr/>
          </a:p>
        </p:txBody>
      </p:sp>
      <p:sp>
        <p:nvSpPr>
          <p:cNvPr id="347" name="Google Shape;347;p54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Parameter space: Set of possible values for each parameter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Sweep through different parameter combinations. How does model behaviour change?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Combinatorial experiment: Test all possible combinations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2 parameters and 4 values each: 4 x 4 = 16 parameter combinations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71613"/>
            <a:ext cx="4327525" cy="307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the Parameter Space</a:t>
            </a:r>
            <a:endParaRPr/>
          </a:p>
        </p:txBody>
      </p:sp>
      <p:sp>
        <p:nvSpPr>
          <p:cNvPr id="354" name="Google Shape;354;p5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in </a:t>
            </a:r>
            <a:r>
              <a:rPr lang="en"/>
              <a:t>BehaviorSpace </a:t>
            </a:r>
            <a:endParaRPr/>
          </a:p>
        </p:txBody>
      </p:sp>
      <p:sp>
        <p:nvSpPr>
          <p:cNvPr id="355" name="Google Shape;355;p55"/>
          <p:cNvSpPr txBox="1"/>
          <p:nvPr>
            <p:ph idx="3" type="body"/>
          </p:nvPr>
        </p:nvSpPr>
        <p:spPr>
          <a:xfrm>
            <a:off x="387600" y="1745225"/>
            <a:ext cx="4184400" cy="32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Tools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BehaviorSpace 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BehaviorSpace combinatorial (16 runs)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Save Table output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Open Excel File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Delete all columns except: wolf-reproduce; wolf-gain-from-food; [step]; count sheep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Create “combination” column with formula: ="WR="&amp;A2&amp;", WGF="&amp;B2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Insert -&gt; Pivot Table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Rows = [step]; Column = combination; Values = count sheep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Sum of count sheep -&gt; Average of count sheep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Insert -&gt; 2D-Line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1125" y="1745225"/>
            <a:ext cx="4430051" cy="2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Repeat/Replicate Sampling</a:t>
            </a:r>
            <a:endParaRPr/>
          </a:p>
        </p:txBody>
      </p:sp>
      <p:sp>
        <p:nvSpPr>
          <p:cNvPr id="362" name="Google Shape;362;p5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Repeating Samples of Parameter Combinations</a:t>
            </a:r>
            <a:endParaRPr/>
          </a:p>
        </p:txBody>
      </p:sp>
      <p:sp>
        <p:nvSpPr>
          <p:cNvPr id="363" name="Google Shape;363;p56"/>
          <p:cNvSpPr txBox="1"/>
          <p:nvPr>
            <p:ph idx="3" type="body"/>
          </p:nvPr>
        </p:nvSpPr>
        <p:spPr>
          <a:xfrm>
            <a:off x="456400" y="1983350"/>
            <a:ext cx="40257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Stochastic models produce different outcomes with same parameters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Stochasticity: Contributor to multifinality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Repeat simulations to estimate typical behaviour and spread</a:t>
            </a:r>
            <a:endParaRPr/>
          </a:p>
        </p:txBody>
      </p:sp>
      <p:pic>
        <p:nvPicPr>
          <p:cNvPr id="364" name="Google Shape;36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050" y="1755775"/>
            <a:ext cx="4480975" cy="22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Repeat/Replicate Sampling</a:t>
            </a:r>
            <a:endParaRPr/>
          </a:p>
        </p:txBody>
      </p:sp>
      <p:sp>
        <p:nvSpPr>
          <p:cNvPr id="370" name="Google Shape;370;p57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in BehaviorSpace </a:t>
            </a:r>
            <a:endParaRPr/>
          </a:p>
        </p:txBody>
      </p:sp>
      <p:sp>
        <p:nvSpPr>
          <p:cNvPr id="371" name="Google Shape;371;p57"/>
          <p:cNvSpPr txBox="1"/>
          <p:nvPr>
            <p:ph idx="3" type="body"/>
          </p:nvPr>
        </p:nvSpPr>
        <p:spPr>
          <a:xfrm>
            <a:off x="345275" y="1856350"/>
            <a:ext cx="4025700" cy="29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Tools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BehaviorSpace 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New BehaviorSpace Features (15 runs)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Save Table output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Open Excel File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Delete all columns except: [run number]; wolf-gain-from-food; [step]; count sheep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Data -&gt; Filter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wolf-gain-from-food = 30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Insert -&gt; Pivot Table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Rows = [step]; Column = [run number]; Values = count sheep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Sum of count sheep -&gt; Average of count sheep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Insert -&gt; 2D-Line</a:t>
            </a:r>
            <a:endParaRPr sz="1250"/>
          </a:p>
        </p:txBody>
      </p:sp>
      <p:pic>
        <p:nvPicPr>
          <p:cNvPr id="372" name="Google Shape;37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750" y="1756900"/>
            <a:ext cx="4419551" cy="20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7"/>
          <p:cNvSpPr txBox="1"/>
          <p:nvPr>
            <p:ph idx="3" type="body"/>
          </p:nvPr>
        </p:nvSpPr>
        <p:spPr>
          <a:xfrm>
            <a:off x="4672675" y="3974975"/>
            <a:ext cx="4025700" cy="29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We have three replicate sheep population trajectories for wolf-gain-from-food = 30. How could we combine them into a single, less noisy trajectory?</a:t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8"/>
          <p:cNvSpPr txBox="1"/>
          <p:nvPr>
            <p:ph type="title"/>
          </p:nvPr>
        </p:nvSpPr>
        <p:spPr>
          <a:xfrm>
            <a:off x="635500" y="228600"/>
            <a:ext cx="843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Performing a Sensitivity Analysis</a:t>
            </a:r>
            <a:endParaRPr/>
          </a:p>
        </p:txBody>
      </p:sp>
      <p:sp>
        <p:nvSpPr>
          <p:cNvPr id="379" name="Google Shape;379;p58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parameters most greatly influence model behaviour?</a:t>
            </a:r>
            <a:endParaRPr/>
          </a:p>
        </p:txBody>
      </p:sp>
      <p:sp>
        <p:nvSpPr>
          <p:cNvPr id="380" name="Google Shape;380;p58"/>
          <p:cNvSpPr txBox="1"/>
          <p:nvPr>
            <p:ph idx="3" type="body"/>
          </p:nvPr>
        </p:nvSpPr>
        <p:spPr>
          <a:xfrm>
            <a:off x="345275" y="1856350"/>
            <a:ext cx="4025700" cy="29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Measures h</a:t>
            </a:r>
            <a:r>
              <a:rPr lang="en" sz="1250"/>
              <a:t>ow changes in model parameters affect model outputs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Identifies parameters that have strong or weak influence on model behaviour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Prioritise parameters for calibration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Sensitivity indices from 44,800 simulations (not in NetLogo)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128 * (5+2) * 50 = 44,800 simulation runs</a:t>
            </a:r>
            <a:endParaRPr sz="1250"/>
          </a:p>
        </p:txBody>
      </p:sp>
      <p:pic>
        <p:nvPicPr>
          <p:cNvPr id="381" name="Google Shape;38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925" y="1771650"/>
            <a:ext cx="4413325" cy="27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/>
          <p:nvPr>
            <p:ph type="title"/>
          </p:nvPr>
        </p:nvSpPr>
        <p:spPr>
          <a:xfrm>
            <a:off x="635500" y="228600"/>
            <a:ext cx="80853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Calibration by Optimisation</a:t>
            </a:r>
            <a:endParaRPr/>
          </a:p>
        </p:txBody>
      </p:sp>
      <p:sp>
        <p:nvSpPr>
          <p:cNvPr id="387" name="Google Shape;387;p59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Calibration by Optimisation?</a:t>
            </a:r>
            <a:endParaRPr/>
          </a:p>
        </p:txBody>
      </p:sp>
      <p:pic>
        <p:nvPicPr>
          <p:cNvPr id="388" name="Google Shape;38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125" y="1886325"/>
            <a:ext cx="6286199" cy="293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0"/>
          <p:cNvSpPr txBox="1"/>
          <p:nvPr>
            <p:ph type="title"/>
          </p:nvPr>
        </p:nvSpPr>
        <p:spPr>
          <a:xfrm>
            <a:off x="635500" y="228600"/>
            <a:ext cx="843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the Best Fit</a:t>
            </a:r>
            <a:endParaRPr/>
          </a:p>
        </p:txBody>
      </p:sp>
      <p:sp>
        <p:nvSpPr>
          <p:cNvPr id="394" name="Google Shape;394;p60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Values that Produces the Smallest Error</a:t>
            </a:r>
            <a:endParaRPr/>
          </a:p>
        </p:txBody>
      </p:sp>
      <p:sp>
        <p:nvSpPr>
          <p:cNvPr id="395" name="Google Shape;395;p60"/>
          <p:cNvSpPr txBox="1"/>
          <p:nvPr>
            <p:ph idx="3" type="body"/>
          </p:nvPr>
        </p:nvSpPr>
        <p:spPr>
          <a:xfrm>
            <a:off x="345275" y="1856350"/>
            <a:ext cx="4025700" cy="29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Calculate error: (Simulated−Observed)^2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/>
          </a:p>
        </p:txBody>
      </p:sp>
      <p:pic>
        <p:nvPicPr>
          <p:cNvPr id="396" name="Google Shape;39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927" y="2425150"/>
            <a:ext cx="2787752" cy="185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0646" y="1755775"/>
            <a:ext cx="4360629" cy="30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1"/>
          <p:cNvSpPr txBox="1"/>
          <p:nvPr>
            <p:ph type="title"/>
          </p:nvPr>
        </p:nvSpPr>
        <p:spPr>
          <a:xfrm>
            <a:off x="635500" y="228600"/>
            <a:ext cx="843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the Best Fit</a:t>
            </a:r>
            <a:endParaRPr/>
          </a:p>
        </p:txBody>
      </p:sp>
      <p:sp>
        <p:nvSpPr>
          <p:cNvPr id="403" name="Google Shape;403;p61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Optimisation in BehaviorSearch</a:t>
            </a:r>
            <a:endParaRPr/>
          </a:p>
        </p:txBody>
      </p:sp>
      <p:sp>
        <p:nvSpPr>
          <p:cNvPr id="404" name="Google Shape;404;p61"/>
          <p:cNvSpPr txBox="1"/>
          <p:nvPr>
            <p:ph idx="3" type="body"/>
          </p:nvPr>
        </p:nvSpPr>
        <p:spPr>
          <a:xfrm>
            <a:off x="219975" y="1768875"/>
            <a:ext cx="4433700" cy="3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Visit C:\Program Files\NetLogo 7.0.4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Open BehaviorSearch.exe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Browse for </a:t>
            </a:r>
            <a:r>
              <a:rPr lang="en" sz="4400"/>
              <a:t>model = C:\Program Files\NetLogo 7.0.4\models\Sample Models\Biology\Wolf Sheep Predation.nlogox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Load parameter ranges from model interface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["wolf-gain-from-food" [0 "C" 100]]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["model-version" "sheep-wolves-grass"]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Measure =  (count sheep - 120) ^ 2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Search Objective -&gt; Minimize Fitness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Output file stem (sic)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Open *.objectiveFunctionHistory.csv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Select wolf-gain-from-food* and best-fitness-so-far</a:t>
            </a:r>
            <a:endParaRPr sz="4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400"/>
              <a:t>Insert -&gt; Scatter</a:t>
            </a:r>
            <a:endParaRPr sz="4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/>
          </a:p>
        </p:txBody>
      </p:sp>
      <p:pic>
        <p:nvPicPr>
          <p:cNvPr id="405" name="Google Shape;40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950" y="1750891"/>
            <a:ext cx="4433699" cy="2668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One Best Fit</a:t>
            </a:r>
            <a:endParaRPr/>
          </a:p>
        </p:txBody>
      </p:sp>
      <p:sp>
        <p:nvSpPr>
          <p:cNvPr id="411" name="Google Shape;411;p62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Might a Single Best Fit Not Be Enough?</a:t>
            </a:r>
            <a:endParaRPr/>
          </a:p>
        </p:txBody>
      </p:sp>
      <p:graphicFrame>
        <p:nvGraphicFramePr>
          <p:cNvPr id="412" name="Google Shape;412;p62"/>
          <p:cNvGraphicFramePr/>
          <p:nvPr/>
        </p:nvGraphicFramePr>
        <p:xfrm>
          <a:off x="491650" y="202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{52B22F8E-D404-4681-896E-25337727F38C}</a:tableStyleId>
              </a:tblPr>
              <a:tblGrid>
                <a:gridCol w="2249550"/>
                <a:gridCol w="5947125"/>
              </a:tblGrid>
              <a:tr h="35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chemeClr val="lt2"/>
                          </a:solidFill>
                        </a:rPr>
                        <a:t>Challenge</a:t>
                      </a:r>
                      <a:endParaRPr b="1"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>
                          <a:solidFill>
                            <a:schemeClr val="lt2"/>
                          </a:solidFill>
                        </a:rPr>
                        <a:t>What it means for optimisation</a:t>
                      </a:r>
                      <a:endParaRPr b="1"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Multifinality &amp; Stochasticity</a:t>
                      </a:r>
                      <a:endParaRPr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Noisy errors: The same parameters can produce different errors</a:t>
                      </a:r>
                      <a:endParaRPr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Equifinality</a:t>
                      </a:r>
                      <a:endParaRPr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Multiple good fits: </a:t>
                      </a:r>
                      <a:r>
                        <a:rPr lang="en" sz="1250">
                          <a:solidFill>
                            <a:schemeClr val="lt2"/>
                          </a:solidFill>
                        </a:rPr>
                        <a:t>Different parameter combinations can produce similarly good fits</a:t>
                      </a:r>
                      <a:endParaRPr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Identifiability</a:t>
                      </a:r>
                      <a:endParaRPr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lt2"/>
                          </a:solidFill>
                        </a:rPr>
                        <a:t>Limited information: Observations may not contain enough information to identify a unique best fit</a:t>
                      </a:r>
                      <a:endParaRPr sz="125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3" name="Google Shape;413;p62"/>
          <p:cNvSpPr txBox="1"/>
          <p:nvPr>
            <p:ph idx="2" type="body"/>
          </p:nvPr>
        </p:nvSpPr>
        <p:spPr>
          <a:xfrm>
            <a:off x="1505685" y="4222875"/>
            <a:ext cx="61686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50"/>
              <a:t>A single best fit does not capture the spread in</a:t>
            </a:r>
            <a:r>
              <a:rPr lang="en" sz="1250"/>
              <a:t> the parameters of the model</a:t>
            </a:r>
            <a:endParaRPr sz="12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3"/>
          <p:cNvSpPr txBox="1"/>
          <p:nvPr>
            <p:ph type="title"/>
          </p:nvPr>
        </p:nvSpPr>
        <p:spPr>
          <a:xfrm>
            <a:off x="403625" y="227100"/>
            <a:ext cx="861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Bayesian Calibration</a:t>
            </a:r>
            <a:endParaRPr/>
          </a:p>
        </p:txBody>
      </p:sp>
      <p:sp>
        <p:nvSpPr>
          <p:cNvPr id="419" name="Google Shape;419;p6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Parameter Values are Plausible Given the Evidence?</a:t>
            </a:r>
            <a:endParaRPr/>
          </a:p>
        </p:txBody>
      </p:sp>
      <p:pic>
        <p:nvPicPr>
          <p:cNvPr id="420" name="Google Shape;42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513" y="1856691"/>
            <a:ext cx="5928726" cy="296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4"/>
          <p:cNvSpPr txBox="1"/>
          <p:nvPr>
            <p:ph type="title"/>
          </p:nvPr>
        </p:nvSpPr>
        <p:spPr>
          <a:xfrm>
            <a:off x="439594" y="227100"/>
            <a:ext cx="861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a Best Fit to a Distribution</a:t>
            </a:r>
            <a:endParaRPr/>
          </a:p>
        </p:txBody>
      </p:sp>
      <p:sp>
        <p:nvSpPr>
          <p:cNvPr id="426" name="Google Shape;426;p6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Gain from Bayesian Calibration?</a:t>
            </a:r>
            <a:endParaRPr/>
          </a:p>
        </p:txBody>
      </p:sp>
      <p:pic>
        <p:nvPicPr>
          <p:cNvPr id="427" name="Google Shape;42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268" y="2346459"/>
            <a:ext cx="45474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7168" y="2170538"/>
            <a:ext cx="3485000" cy="21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5"/>
          <p:cNvSpPr txBox="1"/>
          <p:nvPr>
            <p:ph type="title"/>
          </p:nvPr>
        </p:nvSpPr>
        <p:spPr>
          <a:xfrm>
            <a:off x="439594" y="227100"/>
            <a:ext cx="861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What Does the Posterior Tell Us?</a:t>
            </a:r>
            <a:endParaRPr sz="3900"/>
          </a:p>
        </p:txBody>
      </p:sp>
      <p:sp>
        <p:nvSpPr>
          <p:cNvPr id="434" name="Google Shape;434;p6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Equifinality, multifinality, and identifiability</a:t>
            </a:r>
            <a:endParaRPr/>
          </a:p>
        </p:txBody>
      </p:sp>
      <p:pic>
        <p:nvPicPr>
          <p:cNvPr id="435" name="Google Shape;43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231" y="2694950"/>
            <a:ext cx="2762326" cy="17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3774" y="2694949"/>
            <a:ext cx="2762326" cy="171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943" y="2694950"/>
            <a:ext cx="2762326" cy="171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65"/>
          <p:cNvSpPr txBox="1"/>
          <p:nvPr>
            <p:ph idx="2" type="body"/>
          </p:nvPr>
        </p:nvSpPr>
        <p:spPr>
          <a:xfrm>
            <a:off x="2487300" y="2019825"/>
            <a:ext cx="41694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50"/>
              <a:t>Match the systems modelling challenge to the image</a:t>
            </a:r>
            <a:endParaRPr sz="12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6"/>
          <p:cNvSpPr txBox="1"/>
          <p:nvPr>
            <p:ph type="title"/>
          </p:nvPr>
        </p:nvSpPr>
        <p:spPr>
          <a:xfrm>
            <a:off x="439594" y="227100"/>
            <a:ext cx="861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444" name="Google Shape;444;p6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New Approaches?</a:t>
            </a:r>
            <a:endParaRPr/>
          </a:p>
        </p:txBody>
      </p:sp>
      <p:pic>
        <p:nvPicPr>
          <p:cNvPr id="445" name="Google Shape;44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525" y="1886499"/>
            <a:ext cx="6382952" cy="291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7"/>
          <p:cNvSpPr txBox="1"/>
          <p:nvPr>
            <p:ph type="title"/>
          </p:nvPr>
        </p:nvSpPr>
        <p:spPr>
          <a:xfrm>
            <a:off x="439594" y="227100"/>
            <a:ext cx="861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451" name="Google Shape;451;p67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Make Better Use of Our Simulations?</a:t>
            </a:r>
            <a:endParaRPr/>
          </a:p>
        </p:txBody>
      </p:sp>
      <p:pic>
        <p:nvPicPr>
          <p:cNvPr id="452" name="Google Shape;45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838" y="1854101"/>
            <a:ext cx="5270225" cy="299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8"/>
          <p:cNvSpPr txBox="1"/>
          <p:nvPr>
            <p:ph type="title"/>
          </p:nvPr>
        </p:nvSpPr>
        <p:spPr>
          <a:xfrm>
            <a:off x="439594" y="227100"/>
            <a:ext cx="86145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 sz="3900"/>
          </a:p>
        </p:txBody>
      </p:sp>
      <p:sp>
        <p:nvSpPr>
          <p:cNvPr id="458" name="Google Shape;458;p68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Summary of this Session</a:t>
            </a:r>
            <a:endParaRPr/>
          </a:p>
        </p:txBody>
      </p:sp>
      <p:pic>
        <p:nvPicPr>
          <p:cNvPr id="459" name="Google Shape;45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788" y="1926375"/>
            <a:ext cx="6168127" cy="281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465" name="Google Shape;465;p69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Following 45 Minutes</a:t>
            </a:r>
            <a:endParaRPr/>
          </a:p>
        </p:txBody>
      </p:sp>
      <p:sp>
        <p:nvSpPr>
          <p:cNvPr id="466" name="Google Shape;466;p69"/>
          <p:cNvSpPr txBox="1"/>
          <p:nvPr>
            <p:ph idx="1" type="body"/>
          </p:nvPr>
        </p:nvSpPr>
        <p:spPr>
          <a:xfrm>
            <a:off x="562550" y="2146900"/>
            <a:ext cx="37827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Code Demonstration of: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Exploration via Space-Filling Designs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Global Sensitivity Analysis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Black-Box Optimisation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Likelihood-Free Bayesian Calibration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Future Directions: SBI and Surrogates</a:t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9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Group Idea Development: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Develop your own ABM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Rotate into New Groups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0"/>
          <p:cNvSpPr txBox="1"/>
          <p:nvPr>
            <p:ph type="title"/>
          </p:nvPr>
        </p:nvSpPr>
        <p:spPr>
          <a:xfrm>
            <a:off x="1248900" y="1116450"/>
            <a:ext cx="6646200" cy="291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Closing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