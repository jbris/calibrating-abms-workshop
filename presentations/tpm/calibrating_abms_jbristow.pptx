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y="5143500" cx="9144000"/>
  <p:notesSz cx="6858000" cy="9144000"/>
  <p:embeddedFontLst>
    <p:embeddedFont>
      <p:font typeface="Young Serif"/>
      <p:regular r:id="rId33"/>
    </p:embeddedFont>
    <p:embeddedFont>
      <p:font typeface="Rubik"/>
      <p:regular r:id="rId34"/>
      <p:bold r:id="rId35"/>
      <p:italic r:id="rId36"/>
      <p:boldItalic r:id="rId37"/>
    </p:embeddedFont>
    <p:embeddedFont>
      <p:font typeface="Rubik SemiBold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949250C-48AF-4D59-8E0A-B92A5BB17569}">
  <a:tblStyle styleId="{E949250C-48AF-4D59-8E0A-B92A5BB175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ubikSemiBold-italic.fntdata"/><Relationship Id="rId20" Type="http://schemas.openxmlformats.org/officeDocument/2006/relationships/slide" Target="slides/slide13.xml"/><Relationship Id="rId41" Type="http://schemas.openxmlformats.org/officeDocument/2006/relationships/font" Target="fonts/RubikSemiBold-boldItalic.fntdata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font" Target="fonts/YoungSerif-regular.fntdata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font" Target="fonts/Rubik-bold.fntdata"/><Relationship Id="rId12" Type="http://schemas.openxmlformats.org/officeDocument/2006/relationships/slide" Target="slides/slide5.xml"/><Relationship Id="rId34" Type="http://schemas.openxmlformats.org/officeDocument/2006/relationships/font" Target="fonts/Rubik-regular.fntdata"/><Relationship Id="rId15" Type="http://schemas.openxmlformats.org/officeDocument/2006/relationships/slide" Target="slides/slide8.xml"/><Relationship Id="rId37" Type="http://schemas.openxmlformats.org/officeDocument/2006/relationships/font" Target="fonts/Rubik-boldItalic.fntdata"/><Relationship Id="rId14" Type="http://schemas.openxmlformats.org/officeDocument/2006/relationships/slide" Target="slides/slide7.xml"/><Relationship Id="rId36" Type="http://schemas.openxmlformats.org/officeDocument/2006/relationships/font" Target="fonts/Rubik-italic.fntdata"/><Relationship Id="rId17" Type="http://schemas.openxmlformats.org/officeDocument/2006/relationships/slide" Target="slides/slide10.xml"/><Relationship Id="rId39" Type="http://schemas.openxmlformats.org/officeDocument/2006/relationships/font" Target="fonts/RubikSemiBold-bold.fntdata"/><Relationship Id="rId16" Type="http://schemas.openxmlformats.org/officeDocument/2006/relationships/slide" Target="slides/slide9.xml"/><Relationship Id="rId38" Type="http://schemas.openxmlformats.org/officeDocument/2006/relationships/font" Target="fonts/RubikSemiBold-regular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89d27c1aa_0_22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f89d27c1aa_0_2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f40fb5fa0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f40fb5fa0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40fb5fa00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f40fb5fa00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f40fb5fa00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f40fb5fa00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f40fb5fa0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f40fb5fa0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f40fb5fa00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f40fb5fa00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f40fb5fa00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f40fb5fa00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f40fb5fa00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f40fb5fa00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f40fb5fa00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f40fb5fa00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Stochasticity → Multifinality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More parameters + emergent dynamics → Equifinality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Individual-level model + system-level observations → can contribute to Identifiability problems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40fb5fa0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f40fb5fa0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f40fb5fa00_0_1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f40fb5fa00_0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f40fb5fa00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f40fb5fa00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f40fb5fa00_0_2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f40fb5fa00_0_2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f40fb5fa00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f40fb5fa00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f40fb5fa00_0_2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f40fb5fa00_0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40fb5fa00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f40fb5fa00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f40fb5fa00_0_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f40fb5fa00_0_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f40fb5fa00_0_3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f40fb5fa00_0_3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f8ad32b691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f8ad32b691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8ad32b691_2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f8ad32b691_2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f8ad32b691_2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3f8ad32b691_2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8ad32b691_2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f8ad32b691_2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f8ad32b691_2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f8ad32b691_2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f89d27c1aa_0_25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f89d27c1aa_0_25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fb00570636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fb0057063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secHead">
  <p:cSld name="SECTION_HEADER">
    <p:bg>
      <p:bgPr>
        <a:solidFill>
          <a:schemeClr val="dk2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None/>
            </a:pPr>
            <a:r>
              <a:t/>
            </a:r>
            <a:endParaRPr sz="5600">
              <a:solidFill>
                <a:schemeClr val="l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57" name="Google Shape;57;p14"/>
          <p:cNvSpPr txBox="1"/>
          <p:nvPr>
            <p:ph type="title"/>
          </p:nvPr>
        </p:nvSpPr>
        <p:spPr>
          <a:xfrm>
            <a:off x="1248900" y="1632850"/>
            <a:ext cx="6646200" cy="158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2369850" y="3221650"/>
            <a:ext cx="44043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HEADER_1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AND_BODY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_AND_TWO_COLUMNS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_ONLY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7" name="Google Shape;77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0" name="Google Shape;8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4" name="Google Shape;84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5" name="Google Shape;85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86" name="Google Shape;86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_1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/>
            </a:lvl1pPr>
          </a:lstStyle>
          <a:p/>
        </p:txBody>
      </p:sp>
      <p:sp>
        <p:nvSpPr>
          <p:cNvPr id="89" name="Google Shape;89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_1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2" name="Google Shape;92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 algn="ctr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 algn="ctr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 algn="ctr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 algn="ctr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 algn="ctr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 algn="ctr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 algn="ctr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 algn="ctr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 algn="ctr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93" name="Google Shape;93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7_1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4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96" name="Google Shape;96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7" name="Google Shape;97;p24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98" name="Google Shape;98;p24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99" name="Google Shape;99;p24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00" name="Google Shape;100;p24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01" name="Google Shape;101;p24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02" name="Google Shape;102;p24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05" name="Google Shape;105;p25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06" name="Google Shape;106;p25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" name="Google Shape;110;p2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11" name="Google Shape;111;p26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12" name="Google Shape;112;p26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13" name="Google Shape;113;p26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14" name="Google Shape;114;p26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2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7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18" name="Google Shape;118;p27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19" name="Google Shape;119;p27"/>
          <p:cNvSpPr txBox="1"/>
          <p:nvPr>
            <p:ph idx="3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20" name="Google Shape;120;p2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21" name="Google Shape;121;p27"/>
          <p:cNvSpPr txBox="1"/>
          <p:nvPr>
            <p:ph idx="4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22" name="Google Shape;122;p27"/>
          <p:cNvSpPr txBox="1"/>
          <p:nvPr>
            <p:ph idx="5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23" name="Google Shape;123;p27"/>
          <p:cNvSpPr txBox="1"/>
          <p:nvPr>
            <p:ph idx="6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3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" name="Google Shape;126;p28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27" name="Google Shape;127;p28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28" name="Google Shape;128;p28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29" name="Google Shape;129;p28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SzPts val="1350"/>
              <a:buChar char="●"/>
              <a:defRPr/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SzPts val="1350"/>
              <a:buChar char="○"/>
              <a:defRPr/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SzPts val="1350"/>
              <a:buChar char="■"/>
              <a:defRPr/>
            </a:lvl9pPr>
          </a:lstStyle>
          <a:p/>
        </p:txBody>
      </p:sp>
      <p:sp>
        <p:nvSpPr>
          <p:cNvPr id="130" name="Google Shape;130;p28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31" name="Google Shape;131;p28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32" name="Google Shape;132;p28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33" name="Google Shape;133;p28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34" name="Google Shape;134;p28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4_1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37" name="Google Shape;137;p2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2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p2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0" name="Google Shape;140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42" name="Google Shape;142;p2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3" name="Google Shape;143;p2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4_1_1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3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3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9" name="Google Shape;149;p3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3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1" name="Google Shape;15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53" name="Google Shape;153;p3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54" name="Google Shape;154;p3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55" name="Google Shape;155;p3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5_1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58" name="Google Shape;15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6_1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1" name="Google Shape;161;p3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2" name="Google Shape;162;p3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3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3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5" name="Google Shape;165;p3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6" name="Google Shape;166;p3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3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68" name="Google Shape;168;p3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3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3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 type="tx">
  <p:cSld name="TITLE_AND_BODY">
    <p:bg>
      <p:bgPr>
        <a:solidFill>
          <a:schemeClr val="lt1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3" name="Google Shape;173;p33"/>
          <p:cNvSpPr/>
          <p:nvPr>
            <p:ph idx="2" type="pic"/>
          </p:nvPr>
        </p:nvSpPr>
        <p:spPr>
          <a:xfrm>
            <a:off x="228600" y="1322475"/>
            <a:ext cx="8686800" cy="35925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33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5" name="Google Shape;175;p33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and two columns" type="twoColTx">
  <p:cSld name="TITLE_AND_TWO_COLUMNS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8" name="Google Shape;178;p34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9" name="Google Shape;179;p34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0" name="Google Shape;180;p34"/>
          <p:cNvSpPr/>
          <p:nvPr/>
        </p:nvSpPr>
        <p:spPr>
          <a:xfrm>
            <a:off x="228600" y="1092900"/>
            <a:ext cx="8686800" cy="441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227150" y="1762300"/>
            <a:ext cx="4229700" cy="3152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1100"/>
              <a:buNone/>
            </a:pPr>
            <a:r>
              <a:t/>
            </a:r>
            <a:endParaRPr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182" name="Google Shape;182;p34"/>
          <p:cNvSpPr txBox="1"/>
          <p:nvPr>
            <p:ph idx="1" type="body"/>
          </p:nvPr>
        </p:nvSpPr>
        <p:spPr>
          <a:xfrm>
            <a:off x="688450" y="2146900"/>
            <a:ext cx="3309900" cy="238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175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b="1" sz="1400">
                <a:solidFill>
                  <a:schemeClr val="lt2"/>
                </a:solidFill>
              </a:defRPr>
            </a:lvl1pPr>
            <a:lvl2pPr indent="-3175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 b="1" sz="1400">
                <a:solidFill>
                  <a:schemeClr val="lt2"/>
                </a:solidFill>
              </a:defRPr>
            </a:lvl2pPr>
            <a:lvl3pPr indent="-3175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 b="1" sz="1400">
                <a:solidFill>
                  <a:schemeClr val="lt2"/>
                </a:solidFill>
              </a:defRPr>
            </a:lvl3pPr>
            <a:lvl4pPr indent="-3175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b="1" sz="1400">
                <a:solidFill>
                  <a:schemeClr val="lt2"/>
                </a:solidFill>
              </a:defRPr>
            </a:lvl4pPr>
            <a:lvl5pPr indent="-3175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 b="1" sz="1400">
                <a:solidFill>
                  <a:schemeClr val="lt2"/>
                </a:solidFill>
              </a:defRPr>
            </a:lvl5pPr>
            <a:lvl6pPr indent="-317500" lvl="5" marL="2743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 b="1" sz="1400">
                <a:solidFill>
                  <a:schemeClr val="lt2"/>
                </a:solidFill>
              </a:defRPr>
            </a:lvl6pPr>
            <a:lvl7pPr indent="-317500" lvl="6" marL="3200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b="1" sz="1400">
                <a:solidFill>
                  <a:schemeClr val="lt2"/>
                </a:solidFill>
              </a:defRPr>
            </a:lvl7pPr>
            <a:lvl8pPr indent="-317500" lvl="7" marL="3657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 b="1" sz="1400">
                <a:solidFill>
                  <a:schemeClr val="lt2"/>
                </a:solidFill>
              </a:defRPr>
            </a:lvl8pPr>
            <a:lvl9pPr indent="-317500" lvl="8" marL="411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 b="1" sz="14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3" name="Google Shape;183;p34"/>
          <p:cNvSpPr/>
          <p:nvPr/>
        </p:nvSpPr>
        <p:spPr>
          <a:xfrm>
            <a:off x="4685575" y="1762300"/>
            <a:ext cx="4229700" cy="3152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1100"/>
              <a:buNone/>
            </a:pPr>
            <a:r>
              <a:t/>
            </a:r>
            <a:endParaRPr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184" name="Google Shape;184;p34"/>
          <p:cNvSpPr txBox="1"/>
          <p:nvPr>
            <p:ph idx="2" type="body"/>
          </p:nvPr>
        </p:nvSpPr>
        <p:spPr>
          <a:xfrm>
            <a:off x="5146875" y="2146900"/>
            <a:ext cx="3309900" cy="238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175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b="1" sz="1400">
                <a:solidFill>
                  <a:schemeClr val="lt2"/>
                </a:solidFill>
              </a:defRPr>
            </a:lvl1pPr>
            <a:lvl2pPr indent="-3175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 b="1" sz="1400">
                <a:solidFill>
                  <a:schemeClr val="lt2"/>
                </a:solidFill>
              </a:defRPr>
            </a:lvl2pPr>
            <a:lvl3pPr indent="-3175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 b="1" sz="1400">
                <a:solidFill>
                  <a:schemeClr val="lt2"/>
                </a:solidFill>
              </a:defRPr>
            </a:lvl3pPr>
            <a:lvl4pPr indent="-3175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b="1" sz="1400">
                <a:solidFill>
                  <a:schemeClr val="lt2"/>
                </a:solidFill>
              </a:defRPr>
            </a:lvl4pPr>
            <a:lvl5pPr indent="-3175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 b="1" sz="1400">
                <a:solidFill>
                  <a:schemeClr val="lt2"/>
                </a:solidFill>
              </a:defRPr>
            </a:lvl5pPr>
            <a:lvl6pPr indent="-317500" lvl="5" marL="2743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 b="1" sz="1400">
                <a:solidFill>
                  <a:schemeClr val="lt2"/>
                </a:solidFill>
              </a:defRPr>
            </a:lvl6pPr>
            <a:lvl7pPr indent="-317500" lvl="6" marL="3200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b="1" sz="1400">
                <a:solidFill>
                  <a:schemeClr val="lt2"/>
                </a:solidFill>
              </a:defRPr>
            </a:lvl7pPr>
            <a:lvl8pPr indent="-317500" lvl="7" marL="3657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 b="1" sz="1400">
                <a:solidFill>
                  <a:schemeClr val="lt2"/>
                </a:solidFill>
              </a:defRPr>
            </a:lvl8pPr>
            <a:lvl9pPr indent="-317500" lvl="8" marL="411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 b="1" sz="14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5" name="Google Shape;185;p34"/>
          <p:cNvSpPr txBox="1"/>
          <p:nvPr>
            <p:ph idx="3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and body">
  <p:cSld name="CUSTOM">
    <p:bg>
      <p:bgPr>
        <a:solidFill>
          <a:schemeClr val="lt1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5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88" name="Google Shape;188;p35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9" name="Google Shape;189;p35"/>
          <p:cNvSpPr/>
          <p:nvPr/>
        </p:nvSpPr>
        <p:spPr>
          <a:xfrm>
            <a:off x="228600" y="1092900"/>
            <a:ext cx="8686800" cy="441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190" name="Google Shape;190;p35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1" name="Google Shape;191;p35"/>
          <p:cNvSpPr/>
          <p:nvPr/>
        </p:nvSpPr>
        <p:spPr>
          <a:xfrm>
            <a:off x="228450" y="1762300"/>
            <a:ext cx="8686800" cy="3152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92" name="Google Shape;192;p35"/>
          <p:cNvSpPr txBox="1"/>
          <p:nvPr>
            <p:ph idx="2" type="body"/>
          </p:nvPr>
        </p:nvSpPr>
        <p:spPr>
          <a:xfrm>
            <a:off x="456400" y="1983350"/>
            <a:ext cx="81138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●"/>
              <a:defRPr>
                <a:solidFill>
                  <a:schemeClr val="lt2"/>
                </a:solidFill>
              </a:defRPr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○"/>
              <a:defRPr>
                <a:solidFill>
                  <a:schemeClr val="lt2"/>
                </a:solidFill>
              </a:defRPr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■"/>
              <a:defRPr>
                <a:solidFill>
                  <a:schemeClr val="lt2"/>
                </a:solidFill>
              </a:defRPr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●"/>
              <a:defRPr>
                <a:solidFill>
                  <a:schemeClr val="lt2"/>
                </a:solidFill>
              </a:defRPr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○"/>
              <a:defRPr>
                <a:solidFill>
                  <a:schemeClr val="lt2"/>
                </a:solidFill>
              </a:defRPr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■"/>
              <a:defRPr>
                <a:solidFill>
                  <a:schemeClr val="lt2"/>
                </a:solidFill>
              </a:defRPr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●"/>
              <a:defRPr>
                <a:solidFill>
                  <a:schemeClr val="lt2"/>
                </a:solidFill>
              </a:defRPr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○"/>
              <a:defRPr>
                <a:solidFill>
                  <a:schemeClr val="lt2"/>
                </a:solidFill>
              </a:defRPr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93" name="Google Shape;193;p35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one column and image">
  <p:cSld name="CUSTOM_1">
    <p:bg>
      <p:bgPr>
        <a:solidFill>
          <a:schemeClr val="lt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96" name="Google Shape;196;p36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97" name="Google Shape;197;p36"/>
          <p:cNvSpPr/>
          <p:nvPr/>
        </p:nvSpPr>
        <p:spPr>
          <a:xfrm>
            <a:off x="228600" y="1092900"/>
            <a:ext cx="8686800" cy="441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198" name="Google Shape;198;p36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9" name="Google Shape;199;p36"/>
          <p:cNvSpPr/>
          <p:nvPr>
            <p:ph idx="2" type="pic"/>
          </p:nvPr>
        </p:nvSpPr>
        <p:spPr>
          <a:xfrm>
            <a:off x="4685900" y="1762300"/>
            <a:ext cx="4229400" cy="31524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p36"/>
          <p:cNvSpPr/>
          <p:nvPr/>
        </p:nvSpPr>
        <p:spPr>
          <a:xfrm>
            <a:off x="228450" y="1762300"/>
            <a:ext cx="4229400" cy="3152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01" name="Google Shape;201;p36"/>
          <p:cNvSpPr txBox="1"/>
          <p:nvPr>
            <p:ph idx="3" type="body"/>
          </p:nvPr>
        </p:nvSpPr>
        <p:spPr>
          <a:xfrm>
            <a:off x="456400" y="1983350"/>
            <a:ext cx="37803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●"/>
              <a:defRPr>
                <a:solidFill>
                  <a:schemeClr val="lt2"/>
                </a:solidFill>
              </a:defRPr>
            </a:lvl1pPr>
            <a:lvl2pPr indent="-314325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○"/>
              <a:defRPr>
                <a:solidFill>
                  <a:schemeClr val="lt2"/>
                </a:solidFill>
              </a:defRPr>
            </a:lvl2pPr>
            <a:lvl3pPr indent="-314325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■"/>
              <a:defRPr>
                <a:solidFill>
                  <a:schemeClr val="lt2"/>
                </a:solidFill>
              </a:defRPr>
            </a:lvl3pPr>
            <a:lvl4pPr indent="-314325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●"/>
              <a:defRPr>
                <a:solidFill>
                  <a:schemeClr val="lt2"/>
                </a:solidFill>
              </a:defRPr>
            </a:lvl4pPr>
            <a:lvl5pPr indent="-314325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○"/>
              <a:defRPr>
                <a:solidFill>
                  <a:schemeClr val="lt2"/>
                </a:solidFill>
              </a:defRPr>
            </a:lvl5pPr>
            <a:lvl6pPr indent="-314325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■"/>
              <a:defRPr>
                <a:solidFill>
                  <a:schemeClr val="lt2"/>
                </a:solidFill>
              </a:defRPr>
            </a:lvl6pPr>
            <a:lvl7pPr indent="-314325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●"/>
              <a:defRPr>
                <a:solidFill>
                  <a:schemeClr val="lt2"/>
                </a:solidFill>
              </a:defRPr>
            </a:lvl7pPr>
            <a:lvl8pPr indent="-314325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○"/>
              <a:defRPr>
                <a:solidFill>
                  <a:schemeClr val="lt2"/>
                </a:solidFill>
              </a:defRPr>
            </a:lvl8pPr>
            <a:lvl9pPr indent="-314325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5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2" name="Google Shape;202;p36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hree columns and image 1">
  <p:cSld name="CUSTOM_2">
    <p:bg>
      <p:bgPr>
        <a:solidFill>
          <a:schemeClr val="lt1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7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05" name="Google Shape;205;p37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6" name="Google Shape;206;p37"/>
          <p:cNvSpPr/>
          <p:nvPr/>
        </p:nvSpPr>
        <p:spPr>
          <a:xfrm>
            <a:off x="228600" y="1322475"/>
            <a:ext cx="2768700" cy="450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07" name="Google Shape;207;p37"/>
          <p:cNvSpPr txBox="1"/>
          <p:nvPr>
            <p:ph idx="1" type="subTitle"/>
          </p:nvPr>
        </p:nvSpPr>
        <p:spPr>
          <a:xfrm>
            <a:off x="228600" y="1322450"/>
            <a:ext cx="2768700" cy="450900"/>
          </a:xfrm>
          <a:prstGeom prst="rect">
            <a:avLst/>
          </a:prstGeom>
        </p:spPr>
        <p:txBody>
          <a:bodyPr anchorCtr="0" anchor="ctr" bIns="91425" lIns="1714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08" name="Google Shape;208;p37"/>
          <p:cNvSpPr/>
          <p:nvPr>
            <p:ph idx="2" type="pic"/>
          </p:nvPr>
        </p:nvSpPr>
        <p:spPr>
          <a:xfrm>
            <a:off x="228600" y="3062975"/>
            <a:ext cx="8686800" cy="1851900"/>
          </a:xfrm>
          <a:prstGeom prst="rect">
            <a:avLst/>
          </a:prstGeom>
          <a:noFill/>
          <a:ln>
            <a:noFill/>
          </a:ln>
        </p:spPr>
      </p:sp>
      <p:sp>
        <p:nvSpPr>
          <p:cNvPr id="209" name="Google Shape;209;p37"/>
          <p:cNvSpPr/>
          <p:nvPr/>
        </p:nvSpPr>
        <p:spPr>
          <a:xfrm>
            <a:off x="228600" y="1756113"/>
            <a:ext cx="2768700" cy="108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10" name="Google Shape;210;p37"/>
          <p:cNvSpPr txBox="1"/>
          <p:nvPr>
            <p:ph idx="3" type="body"/>
          </p:nvPr>
        </p:nvSpPr>
        <p:spPr>
          <a:xfrm>
            <a:off x="228600" y="1809225"/>
            <a:ext cx="2768700" cy="979800"/>
          </a:xfrm>
          <a:prstGeom prst="rect">
            <a:avLst/>
          </a:prstGeom>
        </p:spPr>
        <p:txBody>
          <a:bodyPr anchorCtr="0" anchor="t" bIns="91425" lIns="114300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1" name="Google Shape;211;p37"/>
          <p:cNvSpPr/>
          <p:nvPr/>
        </p:nvSpPr>
        <p:spPr>
          <a:xfrm>
            <a:off x="3187650" y="1322450"/>
            <a:ext cx="2768700" cy="15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12" name="Google Shape;212;p37"/>
          <p:cNvSpPr/>
          <p:nvPr/>
        </p:nvSpPr>
        <p:spPr>
          <a:xfrm>
            <a:off x="6146700" y="1322450"/>
            <a:ext cx="2768700" cy="15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13" name="Google Shape;213;p37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hree columns and image 2">
  <p:cSld name="CUSTOM_2_1">
    <p:bg>
      <p:bgPr>
        <a:solidFill>
          <a:schemeClr val="lt1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8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16" name="Google Shape;216;p38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7" name="Google Shape;217;p38"/>
          <p:cNvSpPr/>
          <p:nvPr>
            <p:ph idx="2" type="pic"/>
          </p:nvPr>
        </p:nvSpPr>
        <p:spPr>
          <a:xfrm>
            <a:off x="228600" y="3062975"/>
            <a:ext cx="8686800" cy="1851900"/>
          </a:xfrm>
          <a:prstGeom prst="rect">
            <a:avLst/>
          </a:prstGeom>
          <a:noFill/>
          <a:ln>
            <a:noFill/>
          </a:ln>
        </p:spPr>
      </p:sp>
      <p:sp>
        <p:nvSpPr>
          <p:cNvPr id="218" name="Google Shape;218;p38"/>
          <p:cNvSpPr/>
          <p:nvPr/>
        </p:nvSpPr>
        <p:spPr>
          <a:xfrm>
            <a:off x="6146700" y="1322450"/>
            <a:ext cx="2768700" cy="15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19" name="Google Shape;219;p38"/>
          <p:cNvSpPr/>
          <p:nvPr/>
        </p:nvSpPr>
        <p:spPr>
          <a:xfrm>
            <a:off x="228600" y="1322476"/>
            <a:ext cx="2768700" cy="15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20" name="Google Shape;220;p38"/>
          <p:cNvSpPr/>
          <p:nvPr/>
        </p:nvSpPr>
        <p:spPr>
          <a:xfrm>
            <a:off x="3187650" y="1322475"/>
            <a:ext cx="2768700" cy="450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21" name="Google Shape;221;p38"/>
          <p:cNvSpPr txBox="1"/>
          <p:nvPr>
            <p:ph idx="1" type="subTitle"/>
          </p:nvPr>
        </p:nvSpPr>
        <p:spPr>
          <a:xfrm>
            <a:off x="3187650" y="1322450"/>
            <a:ext cx="2768700" cy="450900"/>
          </a:xfrm>
          <a:prstGeom prst="rect">
            <a:avLst/>
          </a:prstGeom>
        </p:spPr>
        <p:txBody>
          <a:bodyPr anchorCtr="0" anchor="ctr" bIns="91425" lIns="1714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2" name="Google Shape;222;p38"/>
          <p:cNvSpPr/>
          <p:nvPr/>
        </p:nvSpPr>
        <p:spPr>
          <a:xfrm>
            <a:off x="3187650" y="1756113"/>
            <a:ext cx="2768700" cy="108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23" name="Google Shape;223;p38"/>
          <p:cNvSpPr txBox="1"/>
          <p:nvPr>
            <p:ph idx="3" type="body"/>
          </p:nvPr>
        </p:nvSpPr>
        <p:spPr>
          <a:xfrm>
            <a:off x="3187650" y="1809225"/>
            <a:ext cx="2768700" cy="979800"/>
          </a:xfrm>
          <a:prstGeom prst="rect">
            <a:avLst/>
          </a:prstGeom>
        </p:spPr>
        <p:txBody>
          <a:bodyPr anchorCtr="0" anchor="t" bIns="91425" lIns="114300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hree columns and image 3">
  <p:cSld name="CUSTOM_2_1_1">
    <p:bg>
      <p:bgPr>
        <a:solidFill>
          <a:schemeClr val="lt1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9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27" name="Google Shape;227;p39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28" name="Google Shape;228;p39"/>
          <p:cNvSpPr/>
          <p:nvPr>
            <p:ph idx="2" type="pic"/>
          </p:nvPr>
        </p:nvSpPr>
        <p:spPr>
          <a:xfrm>
            <a:off x="228600" y="3062975"/>
            <a:ext cx="8686800" cy="1851900"/>
          </a:xfrm>
          <a:prstGeom prst="rect">
            <a:avLst/>
          </a:prstGeom>
          <a:noFill/>
          <a:ln>
            <a:noFill/>
          </a:ln>
        </p:spPr>
      </p:sp>
      <p:sp>
        <p:nvSpPr>
          <p:cNvPr id="229" name="Google Shape;229;p39"/>
          <p:cNvSpPr/>
          <p:nvPr/>
        </p:nvSpPr>
        <p:spPr>
          <a:xfrm>
            <a:off x="228600" y="1322476"/>
            <a:ext cx="2768700" cy="15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30" name="Google Shape;230;p39"/>
          <p:cNvSpPr/>
          <p:nvPr/>
        </p:nvSpPr>
        <p:spPr>
          <a:xfrm>
            <a:off x="3187650" y="1322450"/>
            <a:ext cx="2768700" cy="15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31" name="Google Shape;231;p39"/>
          <p:cNvSpPr/>
          <p:nvPr/>
        </p:nvSpPr>
        <p:spPr>
          <a:xfrm>
            <a:off x="6146700" y="1322475"/>
            <a:ext cx="2768700" cy="450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32" name="Google Shape;232;p39"/>
          <p:cNvSpPr txBox="1"/>
          <p:nvPr>
            <p:ph idx="1" type="subTitle"/>
          </p:nvPr>
        </p:nvSpPr>
        <p:spPr>
          <a:xfrm>
            <a:off x="6146700" y="1322450"/>
            <a:ext cx="2768700" cy="450900"/>
          </a:xfrm>
          <a:prstGeom prst="rect">
            <a:avLst/>
          </a:prstGeom>
        </p:spPr>
        <p:txBody>
          <a:bodyPr anchorCtr="0" anchor="ctr" bIns="91425" lIns="1714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3" name="Google Shape;233;p39"/>
          <p:cNvSpPr/>
          <p:nvPr/>
        </p:nvSpPr>
        <p:spPr>
          <a:xfrm>
            <a:off x="6146700" y="1756113"/>
            <a:ext cx="2768700" cy="108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34" name="Google Shape;234;p39"/>
          <p:cNvSpPr txBox="1"/>
          <p:nvPr>
            <p:ph idx="3" type="body"/>
          </p:nvPr>
        </p:nvSpPr>
        <p:spPr>
          <a:xfrm>
            <a:off x="6146700" y="1809225"/>
            <a:ext cx="2768700" cy="979800"/>
          </a:xfrm>
          <a:prstGeom prst="rect">
            <a:avLst/>
          </a:prstGeom>
        </p:spPr>
        <p:txBody>
          <a:bodyPr anchorCtr="0" anchor="t" bIns="91425" lIns="114300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35" name="Google Shape;235;p39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hree columns and image 4">
  <p:cSld name="CUSTOM_2_1_1_1">
    <p:bg>
      <p:bgPr>
        <a:solidFill>
          <a:schemeClr val="lt1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0"/>
          <p:cNvSpPr/>
          <p:nvPr/>
        </p:nvSpPr>
        <p:spPr>
          <a:xfrm>
            <a:off x="228475" y="228600"/>
            <a:ext cx="8686800" cy="86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38" name="Google Shape;238;p40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39" name="Google Shape;239;p40"/>
          <p:cNvSpPr/>
          <p:nvPr>
            <p:ph idx="2" type="pic"/>
          </p:nvPr>
        </p:nvSpPr>
        <p:spPr>
          <a:xfrm>
            <a:off x="228600" y="3062975"/>
            <a:ext cx="8686800" cy="18519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40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1" name="Google Shape;241;p40"/>
          <p:cNvSpPr/>
          <p:nvPr/>
        </p:nvSpPr>
        <p:spPr>
          <a:xfrm>
            <a:off x="228600" y="1322475"/>
            <a:ext cx="2768700" cy="450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42" name="Google Shape;242;p40"/>
          <p:cNvSpPr txBox="1"/>
          <p:nvPr>
            <p:ph idx="1" type="subTitle"/>
          </p:nvPr>
        </p:nvSpPr>
        <p:spPr>
          <a:xfrm>
            <a:off x="228600" y="1322450"/>
            <a:ext cx="2768700" cy="450900"/>
          </a:xfrm>
          <a:prstGeom prst="rect">
            <a:avLst/>
          </a:prstGeom>
        </p:spPr>
        <p:txBody>
          <a:bodyPr anchorCtr="0" anchor="ctr" bIns="91425" lIns="1714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3" name="Google Shape;243;p40"/>
          <p:cNvSpPr/>
          <p:nvPr/>
        </p:nvSpPr>
        <p:spPr>
          <a:xfrm>
            <a:off x="228600" y="1756113"/>
            <a:ext cx="2768700" cy="108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44" name="Google Shape;244;p40"/>
          <p:cNvSpPr txBox="1"/>
          <p:nvPr>
            <p:ph idx="3" type="body"/>
          </p:nvPr>
        </p:nvSpPr>
        <p:spPr>
          <a:xfrm>
            <a:off x="228600" y="1809225"/>
            <a:ext cx="2768700" cy="979800"/>
          </a:xfrm>
          <a:prstGeom prst="rect">
            <a:avLst/>
          </a:prstGeom>
        </p:spPr>
        <p:txBody>
          <a:bodyPr anchorCtr="0" anchor="t" bIns="91425" lIns="114300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45" name="Google Shape;245;p40"/>
          <p:cNvSpPr/>
          <p:nvPr/>
        </p:nvSpPr>
        <p:spPr>
          <a:xfrm>
            <a:off x="3187650" y="1322475"/>
            <a:ext cx="2768700" cy="450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46" name="Google Shape;246;p40"/>
          <p:cNvSpPr txBox="1"/>
          <p:nvPr>
            <p:ph idx="4" type="subTitle"/>
          </p:nvPr>
        </p:nvSpPr>
        <p:spPr>
          <a:xfrm>
            <a:off x="3187650" y="1322450"/>
            <a:ext cx="2768700" cy="450900"/>
          </a:xfrm>
          <a:prstGeom prst="rect">
            <a:avLst/>
          </a:prstGeom>
        </p:spPr>
        <p:txBody>
          <a:bodyPr anchorCtr="0" anchor="ctr" bIns="91425" lIns="1714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7" name="Google Shape;247;p40"/>
          <p:cNvSpPr/>
          <p:nvPr/>
        </p:nvSpPr>
        <p:spPr>
          <a:xfrm>
            <a:off x="3187650" y="1756113"/>
            <a:ext cx="2768700" cy="108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48" name="Google Shape;248;p40"/>
          <p:cNvSpPr txBox="1"/>
          <p:nvPr>
            <p:ph idx="5" type="body"/>
          </p:nvPr>
        </p:nvSpPr>
        <p:spPr>
          <a:xfrm>
            <a:off x="3187650" y="1809225"/>
            <a:ext cx="2768700" cy="979800"/>
          </a:xfrm>
          <a:prstGeom prst="rect">
            <a:avLst/>
          </a:prstGeom>
        </p:spPr>
        <p:txBody>
          <a:bodyPr anchorCtr="0" anchor="t" bIns="91425" lIns="114300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49" name="Google Shape;249;p40"/>
          <p:cNvSpPr/>
          <p:nvPr/>
        </p:nvSpPr>
        <p:spPr>
          <a:xfrm>
            <a:off x="6146700" y="1322475"/>
            <a:ext cx="2768700" cy="450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50" name="Google Shape;250;p40"/>
          <p:cNvSpPr txBox="1"/>
          <p:nvPr>
            <p:ph idx="6" type="subTitle"/>
          </p:nvPr>
        </p:nvSpPr>
        <p:spPr>
          <a:xfrm>
            <a:off x="6146700" y="1322450"/>
            <a:ext cx="2768700" cy="450900"/>
          </a:xfrm>
          <a:prstGeom prst="rect">
            <a:avLst/>
          </a:prstGeom>
        </p:spPr>
        <p:txBody>
          <a:bodyPr anchorCtr="0" anchor="ctr" bIns="91425" lIns="17145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51" name="Google Shape;251;p40"/>
          <p:cNvSpPr/>
          <p:nvPr/>
        </p:nvSpPr>
        <p:spPr>
          <a:xfrm>
            <a:off x="6146700" y="1756113"/>
            <a:ext cx="2768700" cy="108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52" name="Google Shape;252;p40"/>
          <p:cNvSpPr txBox="1"/>
          <p:nvPr>
            <p:ph idx="7" type="body"/>
          </p:nvPr>
        </p:nvSpPr>
        <p:spPr>
          <a:xfrm>
            <a:off x="6146700" y="1809225"/>
            <a:ext cx="2768700" cy="979800"/>
          </a:xfrm>
          <a:prstGeom prst="rect">
            <a:avLst/>
          </a:prstGeom>
        </p:spPr>
        <p:txBody>
          <a:bodyPr anchorCtr="0" anchor="t" bIns="91425" lIns="114300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">
  <p:cSld name="CUSTOM_3">
    <p:bg>
      <p:bgPr>
        <a:solidFill>
          <a:schemeClr val="dk2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None/>
            </a:pPr>
            <a:r>
              <a:t/>
            </a:r>
            <a:endParaRPr sz="5600">
              <a:solidFill>
                <a:schemeClr val="lt2"/>
              </a:solidFill>
              <a:latin typeface="Young Serif"/>
              <a:ea typeface="Young Serif"/>
              <a:cs typeface="Young Serif"/>
              <a:sym typeface="Young Serif"/>
            </a:endParaRPr>
          </a:p>
        </p:txBody>
      </p:sp>
      <p:sp>
        <p:nvSpPr>
          <p:cNvPr id="255" name="Google Shape;255;p41"/>
          <p:cNvSpPr txBox="1"/>
          <p:nvPr>
            <p:ph type="title"/>
          </p:nvPr>
        </p:nvSpPr>
        <p:spPr>
          <a:xfrm>
            <a:off x="1248900" y="1777350"/>
            <a:ext cx="6646200" cy="158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6" name="Google Shape;256;p41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4"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Young Serif"/>
              <a:buNone/>
              <a:defRPr sz="4000">
                <a:solidFill>
                  <a:schemeClr val="dk1"/>
                </a:solidFill>
                <a:latin typeface="Young Serif"/>
                <a:ea typeface="Young Serif"/>
                <a:cs typeface="Young Serif"/>
                <a:sym typeface="Young Serif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8144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4325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●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indent="-314325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○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indent="-314325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■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indent="-314325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●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indent="-314325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○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indent="-314325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■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indent="-314325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●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indent="-314325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○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indent="-314325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Rubik"/>
              <a:buChar char="■"/>
              <a:defRPr sz="13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595308" y="474989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3"/>
          <p:cNvSpPr txBox="1"/>
          <p:nvPr>
            <p:ph type="title"/>
          </p:nvPr>
        </p:nvSpPr>
        <p:spPr>
          <a:xfrm>
            <a:off x="1248900" y="564650"/>
            <a:ext cx="6646200" cy="291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An </a:t>
            </a:r>
            <a:r>
              <a:rPr lang="en" sz="5000"/>
              <a:t>Introduction</a:t>
            </a:r>
            <a:r>
              <a:rPr lang="en" sz="5000"/>
              <a:t> to the Calibration of Agent-Based Models</a:t>
            </a:r>
            <a:endParaRPr sz="5000"/>
          </a:p>
        </p:txBody>
      </p:sp>
      <p:sp>
        <p:nvSpPr>
          <p:cNvPr id="263" name="Google Shape;263;p43"/>
          <p:cNvSpPr txBox="1"/>
          <p:nvPr>
            <p:ph idx="1" type="subTitle"/>
          </p:nvPr>
        </p:nvSpPr>
        <p:spPr>
          <a:xfrm>
            <a:off x="2446850" y="3806850"/>
            <a:ext cx="44043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James Bristow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4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Predator-Prey Modelling</a:t>
            </a:r>
            <a:endParaRPr/>
          </a:p>
        </p:txBody>
      </p:sp>
      <p:sp>
        <p:nvSpPr>
          <p:cNvPr id="269" name="Google Shape;269;p44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Model Predator–Prey Systems?</a:t>
            </a:r>
            <a:endParaRPr/>
          </a:p>
        </p:txBody>
      </p:sp>
      <p:sp>
        <p:nvSpPr>
          <p:cNvPr id="270" name="Google Shape;270;p44"/>
          <p:cNvSpPr txBox="1"/>
          <p:nvPr>
            <p:ph idx="3" type="body"/>
          </p:nvPr>
        </p:nvSpPr>
        <p:spPr>
          <a:xfrm>
            <a:off x="456400" y="1983350"/>
            <a:ext cx="37803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Cyclic behaviour: More prey → more predators → fewer prey → fewer predators → more prey again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Balance: Models show when predator and prey populations can coexist without either going extinct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Assist with: Conservation, harvesting, and biological control</a:t>
            </a:r>
            <a:endParaRPr/>
          </a:p>
        </p:txBody>
      </p:sp>
      <p:pic>
        <p:nvPicPr>
          <p:cNvPr id="271" name="Google Shape;27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6925" y="1771025"/>
            <a:ext cx="4441274" cy="219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5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Lotka-Volterra Equations</a:t>
            </a:r>
            <a:endParaRPr/>
          </a:p>
        </p:txBody>
      </p:sp>
      <p:sp>
        <p:nvSpPr>
          <p:cNvPr id="277" name="Google Shape;277;p45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System-Level Non-Linear Model</a:t>
            </a:r>
            <a:endParaRPr/>
          </a:p>
        </p:txBody>
      </p:sp>
      <p:sp>
        <p:nvSpPr>
          <p:cNvPr id="278" name="Google Shape;278;p45"/>
          <p:cNvSpPr txBox="1"/>
          <p:nvPr>
            <p:ph idx="3" type="body"/>
          </p:nvPr>
        </p:nvSpPr>
        <p:spPr>
          <a:xfrm>
            <a:off x="456400" y="1983350"/>
            <a:ext cx="39378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Represents populations, and not individual animals or their behaviour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Describes how the number of sheep and wolves changes over time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Uses equations to represent processes such </a:t>
            </a:r>
            <a:r>
              <a:rPr lang="en"/>
              <a:t>as reproduction, death, and predation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79" name="Google Shape;27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4075" y="1763050"/>
            <a:ext cx="4444099" cy="219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6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Wolf Sheep Predation Model</a:t>
            </a:r>
            <a:endParaRPr/>
          </a:p>
        </p:txBody>
      </p:sp>
      <p:sp>
        <p:nvSpPr>
          <p:cNvPr id="285" name="Google Shape;285;p46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Individual-Level Agent-Based Model</a:t>
            </a:r>
            <a:endParaRPr/>
          </a:p>
        </p:txBody>
      </p:sp>
      <p:sp>
        <p:nvSpPr>
          <p:cNvPr id="286" name="Google Shape;286;p46"/>
          <p:cNvSpPr txBox="1"/>
          <p:nvPr>
            <p:ph idx="3" type="body"/>
          </p:nvPr>
        </p:nvSpPr>
        <p:spPr>
          <a:xfrm>
            <a:off x="456400" y="1983350"/>
            <a:ext cx="37803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Wolves and sheep are represented as individual agents with their own location, energy, and behaviour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Agents move, reproduce, eat, and interact with other agents 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System-level patterns emerge from individual behaviours</a:t>
            </a:r>
            <a:endParaRPr/>
          </a:p>
        </p:txBody>
      </p:sp>
      <p:pic>
        <p:nvPicPr>
          <p:cNvPr id="287" name="Google Shape;28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31425" y="1757375"/>
            <a:ext cx="3103375" cy="310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7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Wolf Sheep Predation Model</a:t>
            </a:r>
            <a:endParaRPr/>
          </a:p>
        </p:txBody>
      </p:sp>
      <p:sp>
        <p:nvSpPr>
          <p:cNvPr id="293" name="Google Shape;293;p47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the Model in NetLogo</a:t>
            </a:r>
            <a:endParaRPr/>
          </a:p>
        </p:txBody>
      </p:sp>
      <p:sp>
        <p:nvSpPr>
          <p:cNvPr id="294" name="Google Shape;294;p47"/>
          <p:cNvSpPr txBox="1"/>
          <p:nvPr>
            <p:ph idx="3" type="body"/>
          </p:nvPr>
        </p:nvSpPr>
        <p:spPr>
          <a:xfrm>
            <a:off x="456400" y="1808725"/>
            <a:ext cx="3780300" cy="191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AutoNum type="arabicPeriod"/>
            </a:pPr>
            <a:r>
              <a:rPr lang="en"/>
              <a:t>File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AutoNum type="arabicPeriod"/>
            </a:pPr>
            <a:r>
              <a:rPr lang="en"/>
              <a:t>Models Library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AutoNum type="arabicPeriod"/>
            </a:pPr>
            <a:r>
              <a:rPr lang="en"/>
              <a:t>Search for “Wolf Sheep Predation”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AutoNum type="arabicPeriod"/>
            </a:pPr>
            <a:r>
              <a:rPr lang="en"/>
              <a:t>Sample Models -&gt; Biology -&gt; Wolf Sheep Predation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AutoNum type="arabicPeriod"/>
            </a:pPr>
            <a:r>
              <a:rPr lang="en"/>
              <a:t>model-version = “sheep-wolves-grass”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AutoNum type="arabicPeriod"/>
            </a:pPr>
            <a:r>
              <a:rPr lang="en"/>
              <a:t>setup -&gt; go </a:t>
            </a:r>
            <a:endParaRPr/>
          </a:p>
        </p:txBody>
      </p:sp>
      <p:pic>
        <p:nvPicPr>
          <p:cNvPr id="295" name="Google Shape;295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4825" y="1749800"/>
            <a:ext cx="4500900" cy="2547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47"/>
          <p:cNvSpPr txBox="1"/>
          <p:nvPr>
            <p:ph idx="3" type="body"/>
          </p:nvPr>
        </p:nvSpPr>
        <p:spPr>
          <a:xfrm>
            <a:off x="337300" y="3841500"/>
            <a:ext cx="4018500" cy="9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Can you adjust the model parameters so that the population of sheep is as close as possible to 225 at time 100?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8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Calibration?</a:t>
            </a:r>
            <a:endParaRPr/>
          </a:p>
        </p:txBody>
      </p:sp>
      <p:sp>
        <p:nvSpPr>
          <p:cNvPr id="302" name="Google Shape;302;p48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Models to Reality</a:t>
            </a:r>
            <a:endParaRPr/>
          </a:p>
        </p:txBody>
      </p:sp>
      <p:sp>
        <p:nvSpPr>
          <p:cNvPr id="303" name="Google Shape;303;p48"/>
          <p:cNvSpPr txBox="1"/>
          <p:nvPr>
            <p:ph idx="3" type="body"/>
          </p:nvPr>
        </p:nvSpPr>
        <p:spPr>
          <a:xfrm>
            <a:off x="456400" y="1983350"/>
            <a:ext cx="37803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Adjusting</a:t>
            </a:r>
            <a:r>
              <a:rPr lang="en"/>
              <a:t> parameters so that simulated outputs most closely match real-world observed data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04" name="Google Shape;30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25575" y="1724825"/>
            <a:ext cx="3780300" cy="3145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9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lang="en"/>
              <a:t>Calibration Process</a:t>
            </a:r>
            <a:endParaRPr/>
          </a:p>
        </p:txBody>
      </p:sp>
      <p:sp>
        <p:nvSpPr>
          <p:cNvPr id="310" name="Google Shape;310;p49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Calibration as an Iterative Process</a:t>
            </a:r>
            <a:endParaRPr/>
          </a:p>
        </p:txBody>
      </p:sp>
      <p:pic>
        <p:nvPicPr>
          <p:cNvPr id="311" name="Google Shape;311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0075" y="1854101"/>
            <a:ext cx="4903826" cy="2972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0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Challenges of Calibration</a:t>
            </a:r>
            <a:endParaRPr/>
          </a:p>
        </p:txBody>
      </p:sp>
      <p:sp>
        <p:nvSpPr>
          <p:cNvPr id="317" name="Google Shape;317;p50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System-Level and Individual-Level Modelling</a:t>
            </a:r>
            <a:endParaRPr/>
          </a:p>
        </p:txBody>
      </p:sp>
      <p:graphicFrame>
        <p:nvGraphicFramePr>
          <p:cNvPr id="318" name="Google Shape;318;p50"/>
          <p:cNvGraphicFramePr/>
          <p:nvPr/>
        </p:nvGraphicFramePr>
        <p:xfrm>
          <a:off x="512300" y="19171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{E949250C-48AF-4D59-8E0A-B92A5BB17569}</a:tableStyleId>
              </a:tblPr>
              <a:tblGrid>
                <a:gridCol w="1781300"/>
                <a:gridCol w="2732875"/>
                <a:gridCol w="3646100"/>
              </a:tblGrid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Lotka-Volterra (System</a:t>
                      </a: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-Level</a:t>
                      </a: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)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Wolf Sheep Predation (Individual-Level)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9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Parameters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Usually f</a:t>
                      </a:r>
                      <a:r>
                        <a:rPr lang="en" sz="1250">
                          <a:solidFill>
                            <a:schemeClr val="lt2"/>
                          </a:solidFill>
                        </a:rPr>
                        <a:t>ewer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Usually more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9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Dynamics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Explicit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Often e</a:t>
                      </a:r>
                      <a:r>
                        <a:rPr lang="en" sz="1250">
                          <a:solidFill>
                            <a:schemeClr val="lt2"/>
                          </a:solidFill>
                        </a:rPr>
                        <a:t>mergent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9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Stochasticity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Often deterministic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Often stochastic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9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Computational c</a:t>
                      </a: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ost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Usually lower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Usually higher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11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Observation level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Matches model level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Often aggregated to system level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9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Calibration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Often easier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Often</a:t>
                      </a:r>
                      <a:r>
                        <a:rPr lang="en" sz="1250">
                          <a:solidFill>
                            <a:schemeClr val="lt2"/>
                          </a:solidFill>
                        </a:rPr>
                        <a:t> more difficult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1"/>
          <p:cNvSpPr txBox="1"/>
          <p:nvPr>
            <p:ph type="title"/>
          </p:nvPr>
        </p:nvSpPr>
        <p:spPr>
          <a:xfrm>
            <a:off x="635500" y="228600"/>
            <a:ext cx="80853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 in Systems Modelling</a:t>
            </a:r>
            <a:endParaRPr/>
          </a:p>
        </p:txBody>
      </p:sp>
      <p:sp>
        <p:nvSpPr>
          <p:cNvPr id="324" name="Google Shape;324;p51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Calibrating </a:t>
            </a:r>
            <a:r>
              <a:rPr lang="en"/>
              <a:t>the Model from Observations</a:t>
            </a:r>
            <a:endParaRPr/>
          </a:p>
        </p:txBody>
      </p:sp>
      <p:pic>
        <p:nvPicPr>
          <p:cNvPr id="325" name="Google Shape;325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3138" y="1924425"/>
            <a:ext cx="6450025" cy="2851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2"/>
          <p:cNvSpPr txBox="1"/>
          <p:nvPr>
            <p:ph type="title"/>
          </p:nvPr>
        </p:nvSpPr>
        <p:spPr>
          <a:xfrm>
            <a:off x="635500" y="228600"/>
            <a:ext cx="80853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You Identify the Challenge?</a:t>
            </a:r>
            <a:endParaRPr/>
          </a:p>
        </p:txBody>
      </p:sp>
      <p:sp>
        <p:nvSpPr>
          <p:cNvPr id="331" name="Google Shape;331;p52"/>
          <p:cNvSpPr txBox="1"/>
          <p:nvPr>
            <p:ph idx="1" type="subTitle"/>
          </p:nvPr>
        </p:nvSpPr>
        <p:spPr>
          <a:xfrm>
            <a:off x="381550" y="1094400"/>
            <a:ext cx="85932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Equifinality, multifinality, or identifiability?</a:t>
            </a:r>
            <a:endParaRPr/>
          </a:p>
        </p:txBody>
      </p:sp>
      <p:graphicFrame>
        <p:nvGraphicFramePr>
          <p:cNvPr id="332" name="Google Shape;332;p52"/>
          <p:cNvGraphicFramePr/>
          <p:nvPr/>
        </p:nvGraphicFramePr>
        <p:xfrm>
          <a:off x="771550" y="2143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{E949250C-48AF-4D59-8E0A-B92A5BB17569}</a:tableStyleId>
              </a:tblPr>
              <a:tblGrid>
                <a:gridCol w="5085450"/>
                <a:gridCol w="2727750"/>
              </a:tblGrid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Scenario 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Answer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We run the stochastic Wolf–Sheep model five times with identical parameters and obtain five different trajectories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6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Sheep reproduction and wolf predation parameter values can both be changed while maintaining a good fit to the observation data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9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Two very different parameter sets produce almost identical wolf–sheep trajectories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3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Exploring the Parameter Space</a:t>
            </a:r>
            <a:endParaRPr/>
          </a:p>
        </p:txBody>
      </p:sp>
      <p:sp>
        <p:nvSpPr>
          <p:cNvPr id="338" name="Google Shape;338;p53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Constructing a Parameter Sweep</a:t>
            </a:r>
            <a:endParaRPr/>
          </a:p>
        </p:txBody>
      </p:sp>
      <p:sp>
        <p:nvSpPr>
          <p:cNvPr id="339" name="Google Shape;339;p53"/>
          <p:cNvSpPr txBox="1"/>
          <p:nvPr>
            <p:ph idx="3" type="body"/>
          </p:nvPr>
        </p:nvSpPr>
        <p:spPr>
          <a:xfrm>
            <a:off x="456400" y="1983350"/>
            <a:ext cx="37803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Parameter space: Set of possible values for each parameter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Sweep through different parameter combinations. How does model behaviour change?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Combinatorial experiment: Test all possible combinations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2 parameters and 4 values each: 4 x 4 = 16 parameter combinations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40" name="Google Shape;34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771613"/>
            <a:ext cx="4327525" cy="30731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4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Exploring the Parameter Space</a:t>
            </a:r>
            <a:endParaRPr/>
          </a:p>
        </p:txBody>
      </p:sp>
      <p:sp>
        <p:nvSpPr>
          <p:cNvPr id="346" name="Google Shape;346;p54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Experiments in </a:t>
            </a:r>
            <a:r>
              <a:rPr lang="en"/>
              <a:t>BehaviorSpace </a:t>
            </a:r>
            <a:endParaRPr/>
          </a:p>
        </p:txBody>
      </p:sp>
      <p:sp>
        <p:nvSpPr>
          <p:cNvPr id="347" name="Google Shape;347;p54"/>
          <p:cNvSpPr txBox="1"/>
          <p:nvPr>
            <p:ph idx="3" type="body"/>
          </p:nvPr>
        </p:nvSpPr>
        <p:spPr>
          <a:xfrm>
            <a:off x="387600" y="1745225"/>
            <a:ext cx="4184400" cy="320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Tools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BehaviorSpace 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BehaviorSpace combinatorial (16 runs)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Save Table output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Open Excel File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Delete all columns except: wolf-reproduce; wolf-gain-from-food; [step]; count sheep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Create “combination” column with formula: ="WR="&amp;A2&amp;", WGF="&amp;B2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Insert -&gt; Pivot Table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Rows = [step]; Column = combination; Values = count sheep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Sum of count sheep -&gt; Average of count sheep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Insert -&gt; 2D-Line</a:t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48" name="Google Shape;348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1125" y="1745225"/>
            <a:ext cx="4430051" cy="2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5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Repeat/Replicate Sampling</a:t>
            </a:r>
            <a:endParaRPr/>
          </a:p>
        </p:txBody>
      </p:sp>
      <p:sp>
        <p:nvSpPr>
          <p:cNvPr id="354" name="Google Shape;354;p55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Repeating Samples of Parameter Combinations</a:t>
            </a:r>
            <a:endParaRPr/>
          </a:p>
        </p:txBody>
      </p:sp>
      <p:sp>
        <p:nvSpPr>
          <p:cNvPr id="355" name="Google Shape;355;p55"/>
          <p:cNvSpPr txBox="1"/>
          <p:nvPr>
            <p:ph idx="3" type="body"/>
          </p:nvPr>
        </p:nvSpPr>
        <p:spPr>
          <a:xfrm>
            <a:off x="456400" y="1983350"/>
            <a:ext cx="4025700" cy="27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Stochastic models produce different outcomes with same parameters</a:t>
            </a:r>
            <a:endParaRPr/>
          </a:p>
          <a:p>
            <a:pPr indent="-314325" lvl="0" marL="457200" rtl="0" algn="l">
              <a:spcBef>
                <a:spcPts val="0"/>
              </a:spcBef>
              <a:spcAft>
                <a:spcPts val="0"/>
              </a:spcAft>
              <a:buSzPts val="1350"/>
              <a:buChar char="●"/>
            </a:pPr>
            <a:r>
              <a:rPr lang="en"/>
              <a:t>Repeat simulations to estimate typical behaviour and spread</a:t>
            </a:r>
            <a:endParaRPr/>
          </a:p>
        </p:txBody>
      </p:sp>
      <p:pic>
        <p:nvPicPr>
          <p:cNvPr id="356" name="Google Shape;356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2050" y="1755775"/>
            <a:ext cx="4480975" cy="221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6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Repeat/Replicate Sampling</a:t>
            </a:r>
            <a:endParaRPr/>
          </a:p>
        </p:txBody>
      </p:sp>
      <p:sp>
        <p:nvSpPr>
          <p:cNvPr id="362" name="Google Shape;362;p56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Experiments in BehaviorSpace </a:t>
            </a:r>
            <a:endParaRPr/>
          </a:p>
        </p:txBody>
      </p:sp>
      <p:sp>
        <p:nvSpPr>
          <p:cNvPr id="363" name="Google Shape;363;p56"/>
          <p:cNvSpPr txBox="1"/>
          <p:nvPr>
            <p:ph idx="3" type="body"/>
          </p:nvPr>
        </p:nvSpPr>
        <p:spPr>
          <a:xfrm>
            <a:off x="345275" y="1856350"/>
            <a:ext cx="4025700" cy="299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Tools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BehaviorSpace 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New BehaviorSpace Features (15 runs)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Save Table output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Open Excel File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Delete all columns except: [run number]; wolf-gain-from-food; [step]; count sheep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Data -&gt; Filter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wolf-gain-from-food = 30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Insert -&gt; Pivot Table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Rows = [step]; Column = [run number]; Values = count sheep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Sum of count sheep -&gt; Average of count sheep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AutoNum type="arabicPeriod"/>
            </a:pPr>
            <a:r>
              <a:rPr lang="en" sz="1250"/>
              <a:t>Insert -&gt; 2D-Line</a:t>
            </a:r>
            <a:endParaRPr sz="1250"/>
          </a:p>
        </p:txBody>
      </p:sp>
      <p:pic>
        <p:nvPicPr>
          <p:cNvPr id="364" name="Google Shape;364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5750" y="1756900"/>
            <a:ext cx="4419551" cy="20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56"/>
          <p:cNvSpPr txBox="1"/>
          <p:nvPr>
            <p:ph idx="3" type="body"/>
          </p:nvPr>
        </p:nvSpPr>
        <p:spPr>
          <a:xfrm>
            <a:off x="4672675" y="3974975"/>
            <a:ext cx="4025700" cy="299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50">
                <a:solidFill>
                  <a:schemeClr val="dk1"/>
                </a:solidFill>
              </a:rPr>
              <a:t>We have three replicate sheep population trajectories for wolf-gain-from-food = 30. How could we combine them into a single, less noisy trajectory?</a:t>
            </a:r>
            <a:endParaRPr sz="125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/>
          <p:nvPr>
            <p:ph type="title"/>
          </p:nvPr>
        </p:nvSpPr>
        <p:spPr>
          <a:xfrm>
            <a:off x="635500" y="228600"/>
            <a:ext cx="84345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 Sensitivity Analysis</a:t>
            </a:r>
            <a:endParaRPr/>
          </a:p>
        </p:txBody>
      </p:sp>
      <p:sp>
        <p:nvSpPr>
          <p:cNvPr id="371" name="Google Shape;371;p57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parameters most greatly influence model behaviour?</a:t>
            </a:r>
            <a:endParaRPr/>
          </a:p>
        </p:txBody>
      </p:sp>
      <p:sp>
        <p:nvSpPr>
          <p:cNvPr id="372" name="Google Shape;372;p57"/>
          <p:cNvSpPr txBox="1"/>
          <p:nvPr>
            <p:ph idx="3" type="body"/>
          </p:nvPr>
        </p:nvSpPr>
        <p:spPr>
          <a:xfrm>
            <a:off x="345275" y="1856350"/>
            <a:ext cx="4025700" cy="299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Char char="●"/>
            </a:pPr>
            <a:r>
              <a:rPr lang="en" sz="1250"/>
              <a:t>Measures h</a:t>
            </a:r>
            <a:r>
              <a:rPr lang="en" sz="1250"/>
              <a:t>ow changes in model parameters affect model outputs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Char char="●"/>
            </a:pPr>
            <a:r>
              <a:rPr lang="en" sz="1250"/>
              <a:t>Identifies parameters that have strong or weak influence on model behaviour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Char char="●"/>
            </a:pPr>
            <a:r>
              <a:rPr lang="en" sz="1250"/>
              <a:t>Prioritise parameters for calibration</a:t>
            </a:r>
            <a:endParaRPr sz="1250"/>
          </a:p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Char char="●"/>
            </a:pPr>
            <a:r>
              <a:rPr lang="en" sz="1250"/>
              <a:t>Sensitivity indices from 44,800 simulations (not in NetLogo)</a:t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-307975" lvl="0" marL="457200" rtl="0" algn="l">
              <a:spcBef>
                <a:spcPts val="1200"/>
              </a:spcBef>
              <a:spcAft>
                <a:spcPts val="0"/>
              </a:spcAft>
              <a:buSzPts val="1250"/>
              <a:buChar char="●"/>
            </a:pPr>
            <a:r>
              <a:rPr lang="en" sz="1250"/>
              <a:t>128 * (5+2) * 50 = 44,800 simulation runs</a:t>
            </a:r>
            <a:endParaRPr sz="1250"/>
          </a:p>
        </p:txBody>
      </p:sp>
      <p:pic>
        <p:nvPicPr>
          <p:cNvPr id="373" name="Google Shape;373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7925" y="1771650"/>
            <a:ext cx="4413325" cy="273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8"/>
          <p:cNvSpPr txBox="1"/>
          <p:nvPr>
            <p:ph type="title"/>
          </p:nvPr>
        </p:nvSpPr>
        <p:spPr>
          <a:xfrm>
            <a:off x="635500" y="228600"/>
            <a:ext cx="80853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Calibration by Optimisation</a:t>
            </a:r>
            <a:endParaRPr/>
          </a:p>
        </p:txBody>
      </p:sp>
      <p:sp>
        <p:nvSpPr>
          <p:cNvPr id="379" name="Google Shape;379;p58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Calibration by Optimisation?</a:t>
            </a:r>
            <a:endParaRPr/>
          </a:p>
        </p:txBody>
      </p:sp>
      <p:pic>
        <p:nvPicPr>
          <p:cNvPr id="380" name="Google Shape;38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0125" y="1886325"/>
            <a:ext cx="6286199" cy="2934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9"/>
          <p:cNvSpPr txBox="1"/>
          <p:nvPr>
            <p:ph type="title"/>
          </p:nvPr>
        </p:nvSpPr>
        <p:spPr>
          <a:xfrm>
            <a:off x="635500" y="228600"/>
            <a:ext cx="84345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Finding the Best Fit</a:t>
            </a:r>
            <a:endParaRPr/>
          </a:p>
        </p:txBody>
      </p:sp>
      <p:sp>
        <p:nvSpPr>
          <p:cNvPr id="386" name="Google Shape;386;p59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Parameter Values that Produces the Smallest Error</a:t>
            </a:r>
            <a:endParaRPr/>
          </a:p>
        </p:txBody>
      </p:sp>
      <p:sp>
        <p:nvSpPr>
          <p:cNvPr id="387" name="Google Shape;387;p59"/>
          <p:cNvSpPr txBox="1"/>
          <p:nvPr>
            <p:ph idx="3" type="body"/>
          </p:nvPr>
        </p:nvSpPr>
        <p:spPr>
          <a:xfrm>
            <a:off x="345275" y="1856350"/>
            <a:ext cx="4025700" cy="299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7975" lvl="0" marL="457200" rtl="0" algn="l">
              <a:spcBef>
                <a:spcPts val="0"/>
              </a:spcBef>
              <a:spcAft>
                <a:spcPts val="0"/>
              </a:spcAft>
              <a:buSzPts val="1250"/>
              <a:buChar char="●"/>
            </a:pPr>
            <a:r>
              <a:rPr lang="en" sz="1250"/>
              <a:t>Calculate error: (Simulated−Observed)^2</a:t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50"/>
          </a:p>
        </p:txBody>
      </p:sp>
      <p:pic>
        <p:nvPicPr>
          <p:cNvPr id="388" name="Google Shape;388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3927" y="2425150"/>
            <a:ext cx="2787752" cy="1858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0646" y="1755775"/>
            <a:ext cx="4360629" cy="309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0"/>
          <p:cNvSpPr txBox="1"/>
          <p:nvPr>
            <p:ph type="title"/>
          </p:nvPr>
        </p:nvSpPr>
        <p:spPr>
          <a:xfrm>
            <a:off x="635500" y="228600"/>
            <a:ext cx="84345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Finding the Best Fit</a:t>
            </a:r>
            <a:endParaRPr/>
          </a:p>
        </p:txBody>
      </p:sp>
      <p:sp>
        <p:nvSpPr>
          <p:cNvPr id="395" name="Google Shape;395;p60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Optimisation in BehaviorSearch</a:t>
            </a:r>
            <a:endParaRPr/>
          </a:p>
        </p:txBody>
      </p:sp>
      <p:sp>
        <p:nvSpPr>
          <p:cNvPr id="396" name="Google Shape;396;p60"/>
          <p:cNvSpPr txBox="1"/>
          <p:nvPr>
            <p:ph idx="3" type="body"/>
          </p:nvPr>
        </p:nvSpPr>
        <p:spPr>
          <a:xfrm>
            <a:off x="219975" y="1768875"/>
            <a:ext cx="4433700" cy="328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Visit C:\Program Files\NetLogo 7.0.4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Open BehaviorSearch.exe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Browse for </a:t>
            </a:r>
            <a:r>
              <a:rPr lang="en" sz="4400"/>
              <a:t>model = C:\Program Files\NetLogo 7.0.4\models\Sample Models\Biology\Wolf Sheep Predation.nlogox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Load parameter ranges from model interface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["wolf-gain-from-food" [0 "C" 100]]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["model-version" "sheep-wolves-grass"]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Measure =  (count sheep - 120) ^ 2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Search Objective -&gt; Minimize Fitness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Output file stem (sic)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Open *.objectiveFunctionHistory.csv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Select wolf-gain-from-food* and best-fitness-so-far</a:t>
            </a:r>
            <a:endParaRPr sz="4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sz="4400"/>
              <a:t>Insert -&gt; Scatter</a:t>
            </a:r>
            <a:endParaRPr sz="4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5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50"/>
          </a:p>
        </p:txBody>
      </p:sp>
      <p:pic>
        <p:nvPicPr>
          <p:cNvPr id="397" name="Google Shape;397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3950" y="1750891"/>
            <a:ext cx="4433699" cy="2668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1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Beyond One Best Fit</a:t>
            </a:r>
            <a:endParaRPr/>
          </a:p>
        </p:txBody>
      </p:sp>
      <p:sp>
        <p:nvSpPr>
          <p:cNvPr id="403" name="Google Shape;403;p61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Might a Single Best Fit Not Be Enough?</a:t>
            </a:r>
            <a:endParaRPr/>
          </a:p>
        </p:txBody>
      </p:sp>
      <p:graphicFrame>
        <p:nvGraphicFramePr>
          <p:cNvPr id="404" name="Google Shape;404;p61"/>
          <p:cNvGraphicFramePr/>
          <p:nvPr/>
        </p:nvGraphicFramePr>
        <p:xfrm>
          <a:off x="491650" y="2027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{E949250C-48AF-4D59-8E0A-B92A5BB17569}</a:tableStyleId>
              </a:tblPr>
              <a:tblGrid>
                <a:gridCol w="2249550"/>
                <a:gridCol w="5947125"/>
              </a:tblGrid>
              <a:tr h="3567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Challenge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50">
                          <a:solidFill>
                            <a:schemeClr val="lt2"/>
                          </a:solidFill>
                        </a:rPr>
                        <a:t>What it means for optimisation</a:t>
                      </a:r>
                      <a:endParaRPr b="1"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379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Multifinality &amp; Stochasticity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Noisy errors: The same parameters can produce different errors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1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Equifinality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Multiple good fits: </a:t>
                      </a:r>
                      <a:r>
                        <a:rPr lang="en" sz="1250">
                          <a:solidFill>
                            <a:schemeClr val="lt2"/>
                          </a:solidFill>
                        </a:rPr>
                        <a:t>Different parameter combinations can produce similarly good fits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31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Identifiability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50">
                          <a:solidFill>
                            <a:schemeClr val="lt2"/>
                          </a:solidFill>
                        </a:rPr>
                        <a:t>Limited information: Observations may not contain enough information to identify a unique best fit</a:t>
                      </a:r>
                      <a:endParaRPr sz="1250">
                        <a:solidFill>
                          <a:schemeClr val="lt2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405" name="Google Shape;405;p61"/>
          <p:cNvSpPr txBox="1"/>
          <p:nvPr>
            <p:ph idx="2" type="body"/>
          </p:nvPr>
        </p:nvSpPr>
        <p:spPr>
          <a:xfrm>
            <a:off x="1505685" y="4222875"/>
            <a:ext cx="6168600" cy="44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50"/>
              <a:t>A single best fit does not capture the spread in</a:t>
            </a:r>
            <a:r>
              <a:rPr lang="en" sz="1250"/>
              <a:t> the parameters of the model</a:t>
            </a:r>
            <a:endParaRPr sz="12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62"/>
          <p:cNvSpPr txBox="1"/>
          <p:nvPr>
            <p:ph type="title"/>
          </p:nvPr>
        </p:nvSpPr>
        <p:spPr>
          <a:xfrm>
            <a:off x="403625" y="227100"/>
            <a:ext cx="86145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Applications of Bayesian Calibration</a:t>
            </a:r>
            <a:endParaRPr/>
          </a:p>
        </p:txBody>
      </p:sp>
      <p:sp>
        <p:nvSpPr>
          <p:cNvPr id="411" name="Google Shape;411;p62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Parameter Values are Plausible Given the Evidence?</a:t>
            </a:r>
            <a:endParaRPr/>
          </a:p>
        </p:txBody>
      </p:sp>
      <p:pic>
        <p:nvPicPr>
          <p:cNvPr id="412" name="Google Shape;412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6513" y="1856691"/>
            <a:ext cx="5928726" cy="2964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3"/>
          <p:cNvSpPr txBox="1"/>
          <p:nvPr>
            <p:ph type="title"/>
          </p:nvPr>
        </p:nvSpPr>
        <p:spPr>
          <a:xfrm>
            <a:off x="439594" y="227100"/>
            <a:ext cx="86145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Best Fit to a Distribution</a:t>
            </a:r>
            <a:endParaRPr/>
          </a:p>
        </p:txBody>
      </p:sp>
      <p:sp>
        <p:nvSpPr>
          <p:cNvPr id="418" name="Google Shape;418;p63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do we Gain from Bayesian Calibration?</a:t>
            </a:r>
            <a:endParaRPr/>
          </a:p>
        </p:txBody>
      </p:sp>
      <p:pic>
        <p:nvPicPr>
          <p:cNvPr id="419" name="Google Shape;419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2268" y="2346459"/>
            <a:ext cx="4547450" cy="180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07168" y="2170538"/>
            <a:ext cx="3485000" cy="216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4"/>
          <p:cNvSpPr txBox="1"/>
          <p:nvPr>
            <p:ph type="title"/>
          </p:nvPr>
        </p:nvSpPr>
        <p:spPr>
          <a:xfrm>
            <a:off x="439594" y="227100"/>
            <a:ext cx="86145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900"/>
              <a:t>What Does the Posterior Tell Us?</a:t>
            </a:r>
            <a:endParaRPr sz="3900"/>
          </a:p>
        </p:txBody>
      </p:sp>
      <p:sp>
        <p:nvSpPr>
          <p:cNvPr id="426" name="Google Shape;426;p64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Equifinality, multifinality, and identifiability</a:t>
            </a:r>
            <a:endParaRPr/>
          </a:p>
        </p:txBody>
      </p:sp>
      <p:pic>
        <p:nvPicPr>
          <p:cNvPr id="427" name="Google Shape;42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1231" y="2694950"/>
            <a:ext cx="2762326" cy="171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33774" y="2694949"/>
            <a:ext cx="2762326" cy="171332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8943" y="2694950"/>
            <a:ext cx="2762326" cy="1713325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64"/>
          <p:cNvSpPr txBox="1"/>
          <p:nvPr>
            <p:ph idx="2" type="body"/>
          </p:nvPr>
        </p:nvSpPr>
        <p:spPr>
          <a:xfrm>
            <a:off x="2487300" y="2019825"/>
            <a:ext cx="4169400" cy="44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50"/>
              <a:t>Match the systems modelling challenge to the image</a:t>
            </a:r>
            <a:endParaRPr sz="12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65"/>
          <p:cNvSpPr txBox="1"/>
          <p:nvPr>
            <p:ph type="title"/>
          </p:nvPr>
        </p:nvSpPr>
        <p:spPr>
          <a:xfrm>
            <a:off x="439594" y="227100"/>
            <a:ext cx="86145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Future Directions</a:t>
            </a:r>
            <a:endParaRPr/>
          </a:p>
        </p:txBody>
      </p:sp>
      <p:sp>
        <p:nvSpPr>
          <p:cNvPr id="436" name="Google Shape;436;p65"/>
          <p:cNvSpPr txBox="1"/>
          <p:nvPr>
            <p:ph idx="1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We Make Better Use of Our Simulations?</a:t>
            </a:r>
            <a:endParaRPr/>
          </a:p>
        </p:txBody>
      </p:sp>
      <p:pic>
        <p:nvPicPr>
          <p:cNvPr id="437" name="Google Shape;437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8838" y="1854101"/>
            <a:ext cx="5270225" cy="2995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6"/>
          <p:cNvSpPr txBox="1"/>
          <p:nvPr>
            <p:ph type="title"/>
          </p:nvPr>
        </p:nvSpPr>
        <p:spPr>
          <a:xfrm>
            <a:off x="635500" y="228600"/>
            <a:ext cx="7836900" cy="8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  <a:endParaRPr/>
          </a:p>
        </p:txBody>
      </p:sp>
      <p:sp>
        <p:nvSpPr>
          <p:cNvPr id="443" name="Google Shape;443;p66"/>
          <p:cNvSpPr txBox="1"/>
          <p:nvPr>
            <p:ph idx="3" type="subTitle"/>
          </p:nvPr>
        </p:nvSpPr>
        <p:spPr>
          <a:xfrm>
            <a:off x="635500" y="1092900"/>
            <a:ext cx="7836900" cy="44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Following 45 Minutes</a:t>
            </a:r>
            <a:endParaRPr/>
          </a:p>
        </p:txBody>
      </p:sp>
      <p:sp>
        <p:nvSpPr>
          <p:cNvPr id="444" name="Google Shape;444;p66"/>
          <p:cNvSpPr txBox="1"/>
          <p:nvPr>
            <p:ph idx="1" type="body"/>
          </p:nvPr>
        </p:nvSpPr>
        <p:spPr>
          <a:xfrm>
            <a:off x="562550" y="2146900"/>
            <a:ext cx="3782700" cy="238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Code Demonstration of:</a:t>
            </a:r>
            <a:endParaRPr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Exploration via Space-Filling Designs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Global Sensitivity Analysis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Black-Box Optimisation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Likelihood-Free Bayesian Calibration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Future Directions: SBI and Surrogates</a:t>
            </a:r>
            <a:endParaRPr sz="13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66"/>
          <p:cNvSpPr txBox="1"/>
          <p:nvPr>
            <p:ph idx="2" type="body"/>
          </p:nvPr>
        </p:nvSpPr>
        <p:spPr>
          <a:xfrm>
            <a:off x="5146875" y="2146900"/>
            <a:ext cx="3309900" cy="238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Group Idea Development:</a:t>
            </a:r>
            <a:endParaRPr sz="1300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Develop your own ABM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Rotate into New Groups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7"/>
          <p:cNvSpPr txBox="1"/>
          <p:nvPr>
            <p:ph type="title"/>
          </p:nvPr>
        </p:nvSpPr>
        <p:spPr>
          <a:xfrm>
            <a:off x="1248900" y="896250"/>
            <a:ext cx="6646200" cy="291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Thank You</a:t>
            </a:r>
            <a:endParaRPr sz="5000"/>
          </a:p>
        </p:txBody>
      </p:sp>
      <p:sp>
        <p:nvSpPr>
          <p:cNvPr id="451" name="Google Shape;451;p67"/>
          <p:cNvSpPr txBox="1"/>
          <p:nvPr>
            <p:ph idx="1" type="subTitle"/>
          </p:nvPr>
        </p:nvSpPr>
        <p:spPr>
          <a:xfrm>
            <a:off x="749400" y="3491850"/>
            <a:ext cx="7645200" cy="31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https://github.com/JBris/calibrating-abms-works</a:t>
            </a:r>
            <a:r>
              <a:rPr lang="en"/>
              <a:t>h</a:t>
            </a:r>
            <a:r>
              <a:rPr lang="en"/>
              <a:t>op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yllabus / Course Overview #1">
  <a:themeElements>
    <a:clrScheme name="Simple Light">
      <a:dk1>
        <a:srgbClr val="03045E"/>
      </a:dk1>
      <a:lt1>
        <a:srgbClr val="CAF0F8"/>
      </a:lt1>
      <a:dk2>
        <a:srgbClr val="00508A"/>
      </a:dk2>
      <a:lt2>
        <a:srgbClr val="FFFFFF"/>
      </a:lt2>
      <a:accent1>
        <a:srgbClr val="86FFFF"/>
      </a:accent1>
      <a:accent2>
        <a:srgbClr val="90E0EF"/>
      </a:accent2>
      <a:accent3>
        <a:srgbClr val="0077B6"/>
      </a:accent3>
      <a:accent4>
        <a:srgbClr val="0096C7"/>
      </a:accent4>
      <a:accent5>
        <a:srgbClr val="00B4D8"/>
      </a:accent5>
      <a:accent6>
        <a:srgbClr val="000000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